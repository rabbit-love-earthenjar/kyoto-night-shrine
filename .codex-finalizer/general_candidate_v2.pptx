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211c8f0b648c4" /><Relationship Type="http://schemas.openxmlformats.org/officeDocument/2006/relationships/extended-properties" Target="/docProps/app.xml" Id="R6edbd4ccba3c43eb" /><Relationship Type="http://schemas.openxmlformats.org/officeDocument/2006/relationships/officeDocument" Target="/ppt/presentation.xml" Id="R0038dcf2fff7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aba01279a4bc8"/>
  </p:sldMasterIdLst>
  <p:notesMasterIdLst>
    <p:notesMasterId xmlns:r="http://schemas.openxmlformats.org/officeDocument/2006/relationships" r:id="R9f150e8ae9424273"/>
  </p:notesMasterIdLst>
  <p:sldIdLst>
    <p:sldId xmlns:r="http://schemas.openxmlformats.org/officeDocument/2006/relationships" id="256" r:id="Rf2549fe659b149cd"/>
    <p:sldId xmlns:r="http://schemas.openxmlformats.org/officeDocument/2006/relationships" id="257" r:id="R0f9857be1e6d4161"/>
    <p:sldId xmlns:r="http://schemas.openxmlformats.org/officeDocument/2006/relationships" id="258" r:id="Rea350d606586485d"/>
    <p:sldId xmlns:r="http://schemas.openxmlformats.org/officeDocument/2006/relationships" id="259" r:id="Ra9f63a25bffc4b3a"/>
    <p:sldId xmlns:r="http://schemas.openxmlformats.org/officeDocument/2006/relationships" id="260" r:id="Rda3880a5be6b47e2"/>
    <p:sldId xmlns:r="http://schemas.openxmlformats.org/officeDocument/2006/relationships" id="261" r:id="Reaf7a1e033454d35"/>
    <p:sldId xmlns:r="http://schemas.openxmlformats.org/officeDocument/2006/relationships" id="262" r:id="R3c73105b17814316"/>
    <p:sldId xmlns:r="http://schemas.openxmlformats.org/officeDocument/2006/relationships" id="263" r:id="Ra12b7a682a02422e"/>
    <p:sldId xmlns:r="http://schemas.openxmlformats.org/officeDocument/2006/relationships" id="264" r:id="R327029b9e3da48df"/>
    <p:sldId xmlns:r="http://schemas.openxmlformats.org/officeDocument/2006/relationships" id="265" r:id="Re16a2ea45be046a7"/>
    <p:sldId xmlns:r="http://schemas.openxmlformats.org/officeDocument/2006/relationships" id="266" r:id="R6e0efcd8048e4caf"/>
    <p:sldId xmlns:r="http://schemas.openxmlformats.org/officeDocument/2006/relationships" id="267" r:id="R88b2f929a65440d3"/>
    <p:sldId xmlns:r="http://schemas.openxmlformats.org/officeDocument/2006/relationships" id="268" r:id="Rfb25a4b8533a4a81"/>
    <p:sldId xmlns:r="http://schemas.openxmlformats.org/officeDocument/2006/relationships" id="269" r:id="R095b243cbcf34bb9"/>
    <p:sldId xmlns:r="http://schemas.openxmlformats.org/officeDocument/2006/relationships" id="270" r:id="Red4a6a6240bc4ff7"/>
    <p:sldId xmlns:r="http://schemas.openxmlformats.org/officeDocument/2006/relationships" id="271" r:id="R79b2c2e5727a4a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81c8035c734c88" /><Relationship Type="http://schemas.openxmlformats.org/officeDocument/2006/relationships/slideMaster" Target="/ppt/slideMasters/slideMaster1.xml" Id="Rf62aba01279a4bc8" /><Relationship Type="http://schemas.openxmlformats.org/officeDocument/2006/relationships/notesMaster" Target="/ppt/notesMasters/notesMaster1.xml" Id="R9f150e8ae9424273" /><Relationship Type="http://schemas.openxmlformats.org/officeDocument/2006/relationships/presProps" Target="/ppt/presProps.xml" Id="Rc630455bf9834a0f" /><Relationship Type="http://schemas.openxmlformats.org/officeDocument/2006/relationships/viewProps" Target="/ppt/viewProps.xml" Id="Rcb1fea8f71f24de9" /><Relationship Type="http://schemas.openxmlformats.org/officeDocument/2006/relationships/tableStyles" Target="/ppt/tableStyles.xml" Id="R373ebaecc0ad4640" /><Relationship Type="http://schemas.openxmlformats.org/officeDocument/2006/relationships/slide" Target="/ppt/slides/slide1.xml" Id="Rf2549fe659b149cd" /><Relationship Type="http://schemas.openxmlformats.org/officeDocument/2006/relationships/slide" Target="/ppt/slides/slide2.xml" Id="R0f9857be1e6d4161" /><Relationship Type="http://schemas.openxmlformats.org/officeDocument/2006/relationships/slide" Target="/ppt/slides/slide3.xml" Id="Rea350d606586485d" /><Relationship Type="http://schemas.openxmlformats.org/officeDocument/2006/relationships/slide" Target="/ppt/slides/slide4.xml" Id="Ra9f63a25bffc4b3a" /><Relationship Type="http://schemas.openxmlformats.org/officeDocument/2006/relationships/slide" Target="/ppt/slides/slide5.xml" Id="Rda3880a5be6b47e2" /><Relationship Type="http://schemas.openxmlformats.org/officeDocument/2006/relationships/slide" Target="/ppt/slides/slide6.xml" Id="Reaf7a1e033454d35" /><Relationship Type="http://schemas.openxmlformats.org/officeDocument/2006/relationships/slide" Target="/ppt/slides/slide7.xml" Id="R3c73105b17814316" /><Relationship Type="http://schemas.openxmlformats.org/officeDocument/2006/relationships/slide" Target="/ppt/slides/slide8.xml" Id="Ra12b7a682a02422e" /><Relationship Type="http://schemas.openxmlformats.org/officeDocument/2006/relationships/slide" Target="/ppt/slides/slide9.xml" Id="R327029b9e3da48df" /><Relationship Type="http://schemas.openxmlformats.org/officeDocument/2006/relationships/slide" Target="/ppt/slides/slide10.xml" Id="Re16a2ea45be046a7" /><Relationship Type="http://schemas.openxmlformats.org/officeDocument/2006/relationships/slide" Target="/ppt/slides/slide11.xml" Id="R6e0efcd8048e4caf" /><Relationship Type="http://schemas.openxmlformats.org/officeDocument/2006/relationships/slide" Target="/ppt/slides/slide12.xml" Id="R88b2f929a65440d3" /><Relationship Type="http://schemas.openxmlformats.org/officeDocument/2006/relationships/slide" Target="/ppt/slides/slide13.xml" Id="Rfb25a4b8533a4a81" /><Relationship Type="http://schemas.openxmlformats.org/officeDocument/2006/relationships/slide" Target="/ppt/slides/slide14.xml" Id="R095b243cbcf34bb9" /><Relationship Type="http://schemas.openxmlformats.org/officeDocument/2006/relationships/slide" Target="/ppt/slides/slide15.xml" Id="Red4a6a6240bc4ff7" /><Relationship Type="http://schemas.openxmlformats.org/officeDocument/2006/relationships/slide" Target="/ppt/slides/slide16.xml" Id="R79b2c2e5727a4a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9f26fa95ff4d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e8b0321dd4c40" /><Relationship Type="http://schemas.openxmlformats.org/officeDocument/2006/relationships/notesMaster" Target="/ppt/notesMasters/notesMaster1.xml" Id="R79bc7309d6c1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39fdd1ebb47c6" /><Relationship Type="http://schemas.openxmlformats.org/officeDocument/2006/relationships/notesMaster" Target="/ppt/notesMasters/notesMaster1.xml" Id="R67479ad42de64c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cff187b85c4754" /><Relationship Type="http://schemas.openxmlformats.org/officeDocument/2006/relationships/notesMaster" Target="/ppt/notesMasters/notesMaster1.xml" Id="R3d7ec4178178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b3c2f591c748d2" /><Relationship Type="http://schemas.openxmlformats.org/officeDocument/2006/relationships/notesMaster" Target="/ppt/notesMasters/notesMaster1.xml" Id="Rb56d2fc5342c48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0970ee1890491d" /><Relationship Type="http://schemas.openxmlformats.org/officeDocument/2006/relationships/notesMaster" Target="/ppt/notesMasters/notesMaster1.xml" Id="R19d1543738d244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917197fde4aba" /><Relationship Type="http://schemas.openxmlformats.org/officeDocument/2006/relationships/notesMaster" Target="/ppt/notesMasters/notesMaster1.xml" Id="R965b8754c97b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32704b79b24710" /><Relationship Type="http://schemas.openxmlformats.org/officeDocument/2006/relationships/notesMaster" Target="/ppt/notesMasters/notesMaster1.xml" Id="Rdadc42a6c894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0f551fda24d98" /><Relationship Type="http://schemas.openxmlformats.org/officeDocument/2006/relationships/notesMaster" Target="/ppt/notesMasters/notesMaster1.xml" Id="R38b3aa4f843a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9d91ac35114de7" /><Relationship Type="http://schemas.openxmlformats.org/officeDocument/2006/relationships/notesMaster" Target="/ppt/notesMasters/notesMaster1.xml" Id="R03d3cae70cf848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3c31013b34d3c" /><Relationship Type="http://schemas.openxmlformats.org/officeDocument/2006/relationships/notesMaster" Target="/ppt/notesMasters/notesMaster1.xml" Id="Rd7349f0b7fc649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1c6da0cd1844a7" /><Relationship Type="http://schemas.openxmlformats.org/officeDocument/2006/relationships/notesMaster" Target="/ppt/notesMasters/notesMaster1.xml" Id="R8766e61af68c4c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d4cbde0fb34595" /><Relationship Type="http://schemas.openxmlformats.org/officeDocument/2006/relationships/notesMaster" Target="/ppt/notesMasters/notesMaster1.xml" Id="Rf62868854ba842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e063bdb8774b44" /><Relationship Type="http://schemas.openxmlformats.org/officeDocument/2006/relationships/notesMaster" Target="/ppt/notesMasters/notesMaster1.xml" Id="R4feaf4a292544c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b82c03705f46c6" /><Relationship Type="http://schemas.openxmlformats.org/officeDocument/2006/relationships/notesMaster" Target="/ppt/notesMasters/notesMaster1.xml" Id="R99c44aab63ed48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1f632b749b4952" /><Relationship Type="http://schemas.openxmlformats.org/officeDocument/2006/relationships/notesMaster" Target="/ppt/notesMasters/notesMaster1.xml" Id="R9a811555b0934c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f2bea61a024ae3" /><Relationship Type="http://schemas.openxmlformats.org/officeDocument/2006/relationships/notesMaster" Target="/ppt/notesMasters/notesMaster1.xml" Id="Rb2a1580a158a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封面在演讲前展开，并示意评委是否可以开始。评委认可可以开始后，切换到下一页。</a:t>
            </a:r>
            <a:endParaRPr/>
          </a:p>
          <a:p xmlns:a="http://schemas.openxmlformats.org/drawingml/2006/main">
            <a:r>
              <a:t>Source: Project original assets / Self-produced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该页简报打开时，开始自己介绍，同时狐狸会自己鞠躬。开始介绍作品前点击鼠标，右边的介绍部分会自己延时出现。</a:t>
            </a:r>
            <a:endParaRPr/>
          </a:p>
          <a:p xmlns:a="http://schemas.openxmlformats.org/drawingml/2006/main">
            <a:r>
              <a:t>Scope: Personal project. Planning decisions, specification decisions, Unity implementation review, and final adoption decisions are handled by the creator. Support tools are used for material ideation, text organization, and validation assistance.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每介绍一个部分，按一次鼠标。</a:t>
            </a:r>
            <a:endParaRPr/>
          </a:p>
          <a:p xmlns:a="http://schemas.openxmlformats.org/drawingml/2006/main">
            <a:r>
              <a:t>Source: Self-produced screenshots / Unity project / Docs. The cafe, night route, and Boss are implemented; final route connection and full manual play feel remain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Target customers and purchase reasons are planning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assets / Unity project / Docs. The diagram represents the intended day and night core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 / Unity project / Docs. Scene Stage_1_2 is playable.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 / Unity project / Docs. Scene Stage_1_Route_Prototype exists; the final trigger connection is still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 / Project original asset / Unity project / Docs. Boss implementation exists; post-victory cafe integration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screenshots / Unity project / Docs. Automated Play Mode checks cover attack position, damage, and HP transitions. Manual play feel remains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These are the main design tradeoffs recorded during approximately 100 calendar days of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assets / Unity project / Docs. Purpose: limit the repair scope when UI assets change and reduce specification-change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BGM and sound effects are specified as feedback for scene roles, phase changes, input success, and retry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Automated validation and manual play-quality review are intentionally reported as separate statuses.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 / Self-produced screenshot. Closing statement summarizes demonstrated work rather than future implementation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Planning assumptions only. Full cost: 10.5 million JPY. Cash requirement: 6.3 million JPY. Sales sensitivity uses a 1,800 JPY list-price hypothesis and is not a sales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5e0d6c99248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a9c021708e4495" /><Relationship Type="http://schemas.openxmlformats.org/officeDocument/2006/relationships/slideLayout" Target="/ppt/slideLayouts/slideLayout1.xml" Id="Rdf721f2a785c43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21f2a785c43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a3c3f27d94d22" /><Relationship Type="http://schemas.openxmlformats.org/officeDocument/2006/relationships/image" Target="/ppt/media/image.png" Id="Rd120fb06d5ca48eb" /><Relationship Type="http://schemas.openxmlformats.org/officeDocument/2006/relationships/image" Target="/ppt/media/image.gif" Id="Rbe0466a510c04bc3" /><Relationship Type="http://schemas.openxmlformats.org/officeDocument/2006/relationships/image" Target="/ppt/media/image2.png" Id="R70889eddbd6e400e" /><Relationship Type="http://schemas.openxmlformats.org/officeDocument/2006/relationships/notesSlide" Target="/ppt/notesSlides/notesSlide1.xml" Id="Rd967ddbf8c70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6a7658b0b4624" /><Relationship Type="http://schemas.openxmlformats.org/officeDocument/2006/relationships/image" Target="/ppt/media/image2.gif" Id="Rb2590e7958554bd6" /><Relationship Type="http://schemas.openxmlformats.org/officeDocument/2006/relationships/notesSlide" Target="/ppt/notesSlides/notesSlide2.xml" Id="R604b8a3d4a6547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3609b8a60437c" /><Relationship Type="http://schemas.openxmlformats.org/officeDocument/2006/relationships/image" Target="/ppt/media/image3.png" Id="R6662f4bed0944c58" /><Relationship Type="http://schemas.openxmlformats.org/officeDocument/2006/relationships/image" Target="/ppt/media/image4.png" Id="R6868663f18644ec8" /><Relationship Type="http://schemas.openxmlformats.org/officeDocument/2006/relationships/image" Target="/ppt/media/image5.png" Id="Rc194f2e6011543bc" /><Relationship Type="http://schemas.openxmlformats.org/officeDocument/2006/relationships/image" Target="/ppt/media/image6.png" Id="Rdedf60d57c8e4396" /><Relationship Type="http://schemas.openxmlformats.org/officeDocument/2006/relationships/image" Target="/ppt/media/image7.png" Id="Rdfe3b2fb07384d93" /><Relationship Type="http://schemas.openxmlformats.org/officeDocument/2006/relationships/notesSlide" Target="/ppt/notesSlides/notesSlide3.xml" Id="Rf4331a07b1c54f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ae51514f54de2" /><Relationship Type="http://schemas.openxmlformats.org/officeDocument/2006/relationships/notesSlide" Target="/ppt/notesSlides/notesSlide4.xml" Id="R352efc6652e442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ed6e83bc456a" /><Relationship Type="http://schemas.openxmlformats.org/officeDocument/2006/relationships/image" Target="/ppt/media/image.png" Id="Rd88fc489f302495c" /><Relationship Type="http://schemas.openxmlformats.org/officeDocument/2006/relationships/notesSlide" Target="/ppt/notesSlides/notesSlide5.xml" Id="Raae81c0f2c524a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8537817a04ad3" /><Relationship Type="http://schemas.openxmlformats.org/officeDocument/2006/relationships/image" Target="/ppt/media/image8.png" Id="R0cb6532ed5644999" /><Relationship Type="http://schemas.openxmlformats.org/officeDocument/2006/relationships/notesSlide" Target="/ppt/notesSlides/notesSlide6.xml" Id="R326a781ea1c34d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65ca92c384942" /><Relationship Type="http://schemas.openxmlformats.org/officeDocument/2006/relationships/image" Target="/ppt/media/image9.png" Id="R3ac3275c2bd04270" /><Relationship Type="http://schemas.openxmlformats.org/officeDocument/2006/relationships/notesSlide" Target="/ppt/notesSlides/notesSlide7.xml" Id="R7eb0f371bd904b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7aa2081594cf1" /><Relationship Type="http://schemas.openxmlformats.org/officeDocument/2006/relationships/image" Target="/ppt/media/image10.png" Id="Rf89e89b13f4b4f78" /><Relationship Type="http://schemas.openxmlformats.org/officeDocument/2006/relationships/image" Target="/ppt/media/image11.png" Id="R51a21880161f4d85" /><Relationship Type="http://schemas.openxmlformats.org/officeDocument/2006/relationships/notesSlide" Target="/ppt/notesSlides/notesSlide8.xml" Id="R98f6cbaf7828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59cbe283b4299" /><Relationship Type="http://schemas.openxmlformats.org/officeDocument/2006/relationships/image" Target="/ppt/media/image12.png" Id="R6a7535407f2841b9" /><Relationship Type="http://schemas.openxmlformats.org/officeDocument/2006/relationships/image" Target="/ppt/media/image13.png" Id="R09ffeead2e6043ee" /><Relationship Type="http://schemas.openxmlformats.org/officeDocument/2006/relationships/image" Target="/ppt/media/image6.png" Id="Rda1c345561fd446c" /><Relationship Type="http://schemas.openxmlformats.org/officeDocument/2006/relationships/image" Target="/ppt/media/image10.png" Id="R6a60bc19602a45c8" /><Relationship Type="http://schemas.openxmlformats.org/officeDocument/2006/relationships/notesSlide" Target="/ppt/notesSlides/notesSlide9.xml" Id="Re31ffe052c3a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395baced74c2a" /><Relationship Type="http://schemas.openxmlformats.org/officeDocument/2006/relationships/notesSlide" Target="/ppt/notesSlides/notesSlide10.xml" Id="Rb45a239571b148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21fc777fb49b0" /><Relationship Type="http://schemas.openxmlformats.org/officeDocument/2006/relationships/image" Target="/ppt/media/image14.png" Id="R7a3d3fa699b8406c" /><Relationship Type="http://schemas.openxmlformats.org/officeDocument/2006/relationships/image" Target="/ppt/media/image15.png" Id="R00990457cdb04351" /><Relationship Type="http://schemas.openxmlformats.org/officeDocument/2006/relationships/notesSlide" Target="/ppt/notesSlides/notesSlide11.xml" Id="R8e4ebd86214347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cae159442495d" /><Relationship Type="http://schemas.openxmlformats.org/officeDocument/2006/relationships/notesSlide" Target="/ppt/notesSlides/notesSlide12.xml" Id="Rea6d45ddb27d42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5bfd2b4f24181" /><Relationship Type="http://schemas.openxmlformats.org/officeDocument/2006/relationships/notesSlide" Target="/ppt/notesSlides/notesSlide13.xml" Id="R0e7448097a2146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8bd66791c4668" /><Relationship Type="http://schemas.openxmlformats.org/officeDocument/2006/relationships/image" Target="/ppt/media/image.png" Id="Rb495ad7444484d52" /><Relationship Type="http://schemas.openxmlformats.org/officeDocument/2006/relationships/image" Target="/ppt/media/image3.gif" Id="R65dc884ae54d412e" /><Relationship Type="http://schemas.openxmlformats.org/officeDocument/2006/relationships/notesSlide" Target="/ppt/notesSlides/notesSlide14.xml" Id="R6d1aa28387dd49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62526b6c0437f" /><Relationship Type="http://schemas.openxmlformats.org/officeDocument/2006/relationships/notesSlide" Target="/ppt/notesSlides/notesSlide15.xml" Id="R49e9cee5a2944c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009eaefe842d8" /><Relationship Type="http://schemas.openxmlformats.org/officeDocument/2006/relationships/image" Target="/ppt/media/image.png" Id="Ra8c12b41157f4c57" /><Relationship Type="http://schemas.openxmlformats.org/officeDocument/2006/relationships/image" Target="/ppt/media/image4.gif" Id="R8b73ce38feb54eb1" /><Relationship Type="http://schemas.openxmlformats.org/officeDocument/2006/relationships/notesSlide" Target="/ppt/notesSlides/notesSlide16.xml" Id="Rdda6b113a6594c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0fb06d5ca48eb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FE47EC-577D-43DF-B21C-2B9F521E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DA77D1-D133-41A9-B985-D12CAE85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8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650E4B-A0BA-410D-B60E-2846948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GAME DESIGN PORTFOLIO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7E438D-2CAC-4788-8F0E-DFBE36D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夜神社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カフェ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30D406-69A0-4DD8-9A51-331C0CD7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D9E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D9E3"/>
                </a:solidFill>
                <a:latin typeface="Yu Gothic"/>
                <a:ea typeface="Yu Gothic"/>
                <a:cs typeface="Yu Gothic"/>
              </a:rPr>
              <a:t>2D ACT × 神社カフェ経営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2D5C33-B038-4FED-8B93-D109AF3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企画から実装・検証・改善まで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約100日で遊べる形へ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2999B977-DC38-481A-9221-CA6DE74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14825"/>
            <a:ext cx="289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F3C57698-740A-4DEF-B0EA-620EDDD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289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008D322-C4AE-4CA0-9F0E-6646947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1BC85-EE24-4FA7-8C41-115EDB7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481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C0FBF7-3439-4603-9A64-9108482A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PRESS START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0A847D7-4265-491D-BF75-F88F00C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制作実績を見る</a:t>
            </a:r>
          </a:p>
        </p:txBody>
      </p:sp>
      <p:pic>
        <p:nvPicPr>
          <p:cNvPr id="34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466a510c04bc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3488" y="3838575"/>
            <a:ext cx="2442237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C6CF0774-57C2-4787-B1F5-16B13084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19150"/>
            <a:ext cx="3143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1C5A9D3-F585-4BF1-AA5B-DAE78B48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477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企画判断から制作実績まで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狐神が案内します。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5BF498B-1CA7-44D0-8654-E023E98F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ED8E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CED8E6"/>
                </a:solidFill>
                <a:latin typeface="Yu Gothic"/>
                <a:ea typeface="Yu Gothic"/>
                <a:cs typeface="Yu Gothic"/>
              </a:rPr>
              <a:t>個人制作 / Unity 2D / Vertical Slice</a:t>
            </a:r>
          </a:p>
        </p:txBody>
      </p:sp>
      <p:pic>
        <p:nvPicPr>
          <p:cNvPr id="38" name="Shrine Path 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89eddbd6e40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39550" y="6324600"/>
            <a:ext cx="406400" cy="40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85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2D2B77C-8D3F-4587-91D2-7D7AD37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18B641-34E1-4409-9EAE-D529FB7F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746816-C792-4624-8F99-9B9ECCF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POSITION FIT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5D8DFD1-FB06-43FF-8BB8-6DB5B7B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400AEC9-E872-42CE-9469-099C89B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応募職種との接続：ゲーム企画 / ディレクション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383D59-2762-4CE6-89DA-994980B5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C22764-E5E2-47BF-8896-326906F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CC2556-5794-4B1A-BA22-2187339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E38B1C-10D5-4681-B33E-F514D584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AB1BD0F-11B3-4F66-979B-7C5368E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8577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22D3AB-CF85-4C21-B685-A972B0A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8577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C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B83430-05F8-4166-ACE3-7F15707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470535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D806CC1-A3F5-4F03-8747-6687F4D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経験・本人担当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6BB199A-1CC2-4BB3-A1DC-5F169E83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ゲーム企画・運営実務：約2年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 / 仕様 / Unity実装 / 数値調整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進行管理 / 日中英の情報整理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363C5CF-62F0-45F8-8BD4-E7D0829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66875"/>
            <a:ext cx="57912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635EE79-461C-4C0B-BC7D-B7DE6B9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912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225D18-097F-44C4-81E8-658140D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56388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DFF4C1-9B5A-4FD3-BDE2-9A5999C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開発チームで生かせる力</a:t>
            </a: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8D95E99E-38BF-4F68-AD4A-6BAF3B7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C33CCA2-154E-4A9D-8A2B-0F6CA261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36ADEC-BB04-4B31-BD35-FA683C3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企画する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0DFE288-9489-4510-9B89-DA83A4A0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体験から仕様を組み立てる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20795F4B-827D-4664-8C3E-1F03E9B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E26E553-BB4D-441B-9900-6C19A90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813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7A284F9-D22A-4E80-8C72-A2429EFF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作る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017D950-1B6B-4B24-9E81-26BAD3E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Unityで試せる形へ</a:t>
            </a:r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4A3F5787-D62F-48CB-B11F-FAB741F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07A55F9-E1EF-4A76-AB44-DC0457B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81EF86E-1569-4D01-AD94-B71450B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検証する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5C660D6-2FD9-4EC0-B147-641E580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動作と遊び心地を分ける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C26661B-27DF-48AD-B21C-8F26CEF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489F321-FC11-4728-A501-B3D63FEA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BBAC28-E19B-452E-8C2E-06E3C3C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直す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0F91D60-C95F-44E2-9900-5039FC31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問題を仕様へ戻す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5EE955A-CEDC-4C82-9D1D-423A382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6957CB-73FD-4D81-B5F8-51BDAF4B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386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3ED673C-2BBA-44C7-A94A-E3BBC12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完遂する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D7CF4C2-CAAE-4439-A055-3209E89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Vertical Sliceへ収束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360376F-074F-4FF0-9F47-418A77E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企画判断・仕様決定・Unity実装確認・最終採用判断は本人が担当。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補助ツールは素材案・文章整理・検証補助として使用。</a:t>
            </a:r>
          </a:p>
        </p:txBody>
      </p:sp>
      <p:pic>
        <p:nvPicPr>
          <p:cNvPr id="82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90e7958554b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5275" y="1438275"/>
            <a:ext cx="2225450" cy="25004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14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A0489A9-6E8C-4C5B-9ED7-712E820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4E9392-0989-4490-AB6F-CA142A7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341DCA-B452-4E92-B6CE-9A5D5A15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PLAYABLE PROOF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1707805-2E1E-4ABD-84E9-3A85062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3C3B9F-E73C-41FC-A947-A39D0F07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実機ループ：5つの操作で一日が循環する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C189063-4D8C-4094-8B90-236DCE2E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B62F979-61B4-4BC9-B8B4-BB158C8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50E0D8E-73EC-406C-BE90-6FF70A7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7292E4-B4F0-434A-AD09-F45ED42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F9D6D3-6D21-4C82-A405-0001D611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0A09B-1BD6-4450-AC15-B63938D5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1DB2574-A931-4AA9-BB03-C905274D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78" name="图片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2f4bed0944c58"/>
          <a:srcRect xmlns:a="http://schemas.openxmlformats.org/drawingml/2006/main" l="17850" t="0" r="178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DE716A1-59CD-4502-A474-1922059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E7CB8C6-DE89-43B7-AAAB-C92B1BC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323756-E794-4361-BBB4-928F8CE5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願いを聞く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09B555A-E55B-4BEC-B760-822F675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客の注文・悩み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CD4AF91-FEFD-411F-8449-BDE620E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4D2A790-B0C6-4F30-A91B-C4F8E07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0502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B65BE03-7041-40AD-B482-E622F988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3835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13329FB-7BAC-459B-B69A-FBBF162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7" name="图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8663f18644ec8"/>
          <a:srcRect xmlns:a="http://schemas.openxmlformats.org/drawingml/2006/main" l="13205" t="0" r="13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213360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B1259BE9-2A4A-4AB0-92C7-80091C4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8C0F34-9BD3-43AF-A89D-B1BABF0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7E595E2-9D8A-41D8-A020-623E35B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夜に備える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FD35539-CFE6-4D1B-B0DB-340D7E7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料理と夜の準備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474296D-E300-486F-AF6A-5B942D39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3CB8F99-E39E-404F-9520-7AAC2B2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547CAD3-5220-4805-888E-F1F1DE6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83B314-65F5-475A-8CA7-7E15BF0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96" name="图片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4f2e6011543bc"/>
          <a:srcRect xmlns:a="http://schemas.openxmlformats.org/drawingml/2006/main" l="18623" t="0" r="18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8CA32BDC-DAB7-4229-9DBB-06C125B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483A9F1-8D2B-45D2-95AB-A09EF50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480216C-3FB6-4C3C-8BBA-B4C2BD4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夜へ出る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101CB76-6D1E-448E-8F1E-5633B25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小さな京都夜道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ACD3EB2-B395-4C1F-95CA-504F512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DFF184D-9AC8-49C8-ABB0-1C26380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0502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5F2946D-8F3D-4209-A3F5-7DE6C22D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EFC08ABD-C50D-491D-8715-DDB47F16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1455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105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f60d57c8e4396"/>
          <a:srcRect xmlns:a="http://schemas.openxmlformats.org/drawingml/2006/main" l="16722" t="0" r="16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213360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BC8C915-94DD-4F33-AC8F-88043D0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BDBDCAF-68B4-425D-8095-ECDB4EC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084A5B2-FDCA-43B5-A26A-27992E0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Bossを攻略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34474C3-AD56-4ADD-BA35-A4DE595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攻撃を読み切る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957AD40-8AFB-42F2-99BF-E8C1DB0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849E7C1-03FD-4442-BC52-09F7B7B2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9A52A16-B0DA-451B-82C4-618E661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B0CBD45-971F-4E42-B544-26055E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114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3b2fb07384d93"/>
          <a:srcRect xmlns:a="http://schemas.openxmlformats.org/drawingml/2006/main" l="1720" t="0" r="1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50" name="椭圆 49">
            <a:extLst xmlns:a="http://schemas.openxmlformats.org/drawingml/2006/main">
              <a:ext uri="{FF2B5EF4-FFF2-40B4-BE49-F238E27FC236}">
                <a16:creationId xmlns:a16="http://schemas.microsoft.com/office/drawing/2014/main" id="{C4E53F79-B021-4234-9F53-A1A8C6E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A6973AB-B84C-4668-93D7-B3A5369C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BC50FCE-10EC-434F-A554-8C3AD37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昼の変化へ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EC1DECBA-5E20-4665-9221-D42B520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成果を次の昼へ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BDD9BFB7-7C30-4CEC-A21D-80F9F94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34025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64A961EF-0DEC-4B43-8BC5-87D0C77A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1E0DB56-D597-4F0C-8B6A-18F14BE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7" name="矩形: 圆角 56">
            <a:extLst xmlns:a="http://schemas.openxmlformats.org/drawingml/2006/main">
              <a:ext uri="{FF2B5EF4-FFF2-40B4-BE49-F238E27FC236}">
                <a16:creationId xmlns:a16="http://schemas.microsoft.com/office/drawing/2014/main" id="{1F51EAB6-EA62-4837-9CD7-97B33F8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761608D-A517-4393-B4F4-0910D73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49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制作実績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7827BBE-A90D-48C2-BBAF-12FBEE3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カフェ、夜ルート、Bossを実装。昼夜の循環と各工程の役割を実機画面で示します。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829839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553D14-C39A-4C10-AF9F-DA4266B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803314-C2D4-4E2C-ABF7-1FF25F01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0D558C-0F00-4AF9-A404-E56D658D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GAME CONCEPT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776E995-CF93-4D32-98B3-53A60A9D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7BEE09-6468-4FC0-9362-55B4E2B4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企画概要：作品と想定顧客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D985906-2BB0-415E-8A90-F73EF61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D654B9-7B96-4B9C-B869-DBBD081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456BEE-493A-4240-9A48-7D8BA7F1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C7758F1-0075-4DF4-A39B-26344D3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C3539F-4B3A-4A68-B278-B6251B16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28775"/>
            <a:ext cx="7239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9B268F-FA42-485B-8585-8CC4D01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239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6B781D8-743B-454C-A46A-2F85B1F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086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F116767-A2FA-4FF4-9163-D047D57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ジャンル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1262B29A-8AE1-4376-8A22-2D49A57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4FA3F646-4D1D-4757-9B62-D16BBB48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FBEDEA6A-32C3-4A04-ADE4-CA31A38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F0EBB8-20FF-4A2D-AD52-9A43CE6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6D1472-32C9-4431-9143-C03F3695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神社カフェ経営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3EF44F9-CC2B-4C0B-9FCA-86938FD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育成・接客・料理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1B58D81-296A-4C6F-909E-0D3A995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3772482D-83E5-454B-A425-D6501E87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87BB53D4-AB9F-4962-B2C4-1D77292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E3136E33-1725-4692-9A2F-F822817D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01EE68-729F-46F1-AC6B-D7682E8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907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B330BB6-EAF3-4532-B589-EBF11C85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ライトACT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A1D1F63-E7D1-483E-ADD0-B73389D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探索・浄化・Boss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4C81F33-B8D9-4F8A-92F7-A58FE2F1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題材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47F71646-2F3B-4F5A-A791-71979AC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1DA08CEF-7E75-439A-BC8D-FFB077E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07075BB9-8F37-4370-9495-0145E5E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734CAD-D905-4DDB-A1AB-590052B8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A9BEB52-20F8-49F1-9D96-BAC502A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71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現代の京都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22F5BCE-7BE8-452B-88C7-DE1D8A6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767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夜道・自販機・生活感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A68C816-0C4E-4999-9410-1D8077E4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529A076A-42D7-4B92-ACB0-FC733BB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51389475-5337-4FC6-9EAC-900E687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D8C4DB20-ED03-4E1F-9431-898C775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9D02F69-9B55-4272-A95A-85F75B4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3137494-274D-46CC-91BC-C84A7F2F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日本妖怪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B30B462-7DB7-48A4-8DA8-AAFB889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767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願い・関係・伝承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E9D0E74-101B-40B8-8967-C342AAA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28775"/>
            <a:ext cx="35623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2131A2AD-A57A-4FC3-A0F5-F511FC1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5623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3AA7B84-8342-4487-A3EC-D381D47E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4099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F78393F-419F-42EA-9F8E-BABFF0F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想定顧客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92178F5-FBEB-4432-B1F8-6DC5EB7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PRIMARY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経営・育成ゲーム層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34AD49B-DB63-4393-8815-97E5E20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A041C6F-B956-4355-A00C-7A8A843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2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SECONDARY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かわいいキャラ・和風世界観層</a:t>
            </a:r>
          </a:p>
        </p:txBody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72C76EDC-07CA-4A68-9379-2E1D273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42C3037A-572F-457E-8212-8EBDC92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6AEA5D6-30A4-44D1-B417-AE0D544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672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購入理由：経営×ACTの往復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A9CFFB3-2461-4BCA-986C-6C79193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43525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A43B06A-C798-47B3-A592-4219777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7A0EF14-B10F-4ACA-BA61-282199F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4" name="矩形: 圆角 53">
            <a:extLst xmlns:a="http://schemas.openxmlformats.org/drawingml/2006/main">
              <a:ext uri="{FF2B5EF4-FFF2-40B4-BE49-F238E27FC236}">
                <a16:creationId xmlns:a16="http://schemas.microsoft.com/office/drawing/2014/main" id="{C53A0F0B-F88C-42C0-85B4-39D8B22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736DC05-B882-4122-933A-630FB47B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設計意図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C522B59-1BEE-417C-BF41-0995223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経営で整え、夜のACTで成果を持ち帰る。短時間で区切れ、積み重ねが見える体験を狙います。</a:t>
            </a:r>
          </a:p>
        </p:txBody>
      </p:sp>
    </p:spTree>
    <p:extLst>
      <p:ext uri="{BB962C8B-B14F-4D97-AF65-F5344CB8AC3E}">
        <p14:creationId xmlns:p14="http://schemas.microsoft.com/office/powerpoint/2010/main" val="2140542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4371015-755F-45A0-9A0B-1FB9CDAB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F72657-5390-46BE-B2A4-53ADBFD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136CE0-6C9C-4F10-AF73-50D3E0C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CORE LOOP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C6F7EB-B3F6-4B15-8665-0415827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862B74-3936-438D-AC9E-328017A7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コアループ：昼に整え、夜に浄め、次の昼を変える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87D84D5-A752-44CB-A329-D05479E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79CE24-26CA-448C-AABC-6CA9901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5A78CE-9E34-441E-BE86-768A820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ACE0AAF-1DA4-4E75-BFA8-D3A16B2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pic>
        <p:nvPicPr>
          <p:cNvPr id="55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fc489f302495c"/>
          <a:srcRect xmlns:a="http://schemas.openxmlformats.org/drawingml/2006/main" l="0" t="6924" r="0" b="6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239000" cy="440055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240A6EC-8A28-411D-84B0-8C693C8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402DA7C-3976-42FF-BDE1-E167B06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AM 08:30　昼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BFE9F31-3D51-4818-BE67-E9DE6602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09725"/>
            <a:ext cx="358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FAFB13-6347-43D1-98A5-1DA066B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43050"/>
            <a:ext cx="358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A3FA2-D7AE-4105-88A8-DC584EC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290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00E659DE-501B-42F9-B531-9D486B2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6B2B84B-81D6-47E1-9969-873AB3D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3415BAE-A0ED-4496-B371-9DDAAA76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6DB44C-04A7-47DA-AD32-E8B1493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仕入れ・栽培・接客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4A097C-272C-4C34-8964-DF9B160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87F4056E-2BFB-4ECB-AB04-FE6FC8C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4478B52-964E-4082-88F9-5D4EB0A3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8602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5ECEB6F-C9FC-446F-B078-A9A144E4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66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準備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8A08CC5-7484-4532-A611-7CCDC5C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6697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8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料理・装備・願いを選ぶ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BD1F09B-AE08-4690-B536-894000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CD17201E-1A16-436F-9063-3513566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52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4391782-0BDE-4024-B169-C96A1CBC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4146042-1535-42BA-9DD9-FD77E42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787CEF-2D57-43C1-803C-BF5CE0D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探索・戦闘・浄化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ED78640-BAB5-4CA3-872D-E9E20F6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844CC0BF-CF81-4BD1-AB64-78B9611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3C37FB3-A4FE-41AD-976F-9C64EB1F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FF8539E-08E2-45C7-803A-FAF3AED0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報酬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5723C4A-C1B4-41E4-A018-581FE625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素材・信仰・関係変化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B4B7EE2-B897-41B8-AF9A-8DC7C3B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529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8CFA8C8B-6825-45E5-9C32-61E228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43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F9873F0-FA22-4E53-8A8B-3DEC6E0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5DB482F-D157-4DDD-B069-B38874A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成長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C084087-C822-4B0B-A5BC-8582DA5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529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8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料理・家具・会話・解放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710A32E0-8695-4083-BB2A-3ADCCCFC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721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0D3D9991-CF3F-4D1A-B633-C590F78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C308008D-09B2-4B6C-8917-1BE5486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62575"/>
            <a:ext cx="201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REPEAT：次の一日へ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20492DC-178C-4FE9-A08A-9798DDD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02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体験目標：短時間で区切れ、積み重ねが目に見える</a:t>
            </a:r>
          </a:p>
        </p:txBody>
      </p:sp>
    </p:spTree>
    <p:extLst>
      <p:ext uri="{BB962C8B-B14F-4D97-AF65-F5344CB8AC3E}">
        <p14:creationId xmlns:p14="http://schemas.microsoft.com/office/powerpoint/2010/main" val="236085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77CD047-B263-4893-9B13-3278DA3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98FA2A3-4374-4162-9353-2210AB5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EDCB73B-6400-49B8-95A5-FA14FC7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5E7BD9E-CF55-4461-88B4-3FC872D1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B35F297-A52F-49AB-9407-05C7775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1/3：迷いの夜と、閉ざされた神社カフェ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537F05-AF2C-4143-9E6C-CA9B314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909191-37B8-419C-8BFD-E491AD94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FEF20FE-62DA-47F7-A2AF-88CECE8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B9F8FC2-1651-4803-B2A6-DBBD7585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pic>
        <p:nvPicPr>
          <p:cNvPr id="4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6532ed5644999"/>
          <a:srcRect xmlns:a="http://schemas.openxmlformats.org/drawingml/2006/main" l="3242" t="0" r="3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334250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F3F5EC00-1F77-464A-95BC-DA13787B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714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1149483-E2E6-4CF2-A6B4-44847FF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LEVEL 01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4767F6-2AE1-4775-AB29-E6184E9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09725"/>
            <a:ext cx="35052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25EAB3A-63D6-4616-A6BB-73498740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5052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42BCCF1-58CC-4FB9-B570-8F366BC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35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14302FEC-0E71-48FD-9A7D-786E888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54697BE7-2659-4745-BF0B-3F18E62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6255B22-C2EA-4D71-8775-B531FD8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38325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(・_・;)  #迷子 #操作学習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5E6885-5F97-48C8-9C21-75C2F9E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88065C-1397-4023-9B29-207F533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77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現代から京都の夜へ迷い込む。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5A9EB9-7BBF-48A0-AD3E-F74A8E4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0399F6E-87E9-49CD-BA7E-D340D73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移動、ジャンプ、通常戦闘を学び、狐神の灯を追う。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54D1D0C-B75F-4E24-BCDE-791DE5B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22EE24-A417-475C-AB15-2C81BAE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昼の拠点へ到着。中央の神社カフェは壊れて閉ざされている。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EC438F8E-D8AD-41F9-9B85-EE56E9DA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39B19863-90FA-4D6A-87E7-535CEBF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9A4FF16-58D0-4D71-A29E-622F7D3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244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Scene：Stage_1_2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CA77E7C-3982-4A3C-B1A2-5EEFF76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38825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436D59A-2DE5-4558-A47C-FAD4F961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81F8DFC-0430-4A9A-9F65-433AC7D3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C7F4423A-416B-4905-BAD8-158877A9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1E38A0-90B8-46D4-9E8B-012B268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設計意図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256004F-9F45-4452-B966-B1EB10C1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293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導入部では、操作説明と「帰れる場所を直す」という最初の目的を同時に提示します。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055076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F91BB39-1CF2-43CF-B698-5724360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BB6A0E-1A3C-480F-B63F-F4CC52B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71C92A0-3C93-4C6D-B337-8167371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97FF48-C9D0-49EC-B674-F4A5C2E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CE89F0-EBFB-44FB-9B02-E1C58EE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2/3：願いを追う赤鬼巡回路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25354B8-FBCF-4B3B-9E82-F1DFD6C6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3D1FC2E-4F6E-48B1-821F-EA3BBE7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DA47BD-CA3D-4DC1-9089-F7EDFC2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86ADECC-A8F1-4BCE-84E5-B73CBD4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pic>
        <p:nvPicPr>
          <p:cNvPr id="46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3275c2bd04270"/>
          <a:srcRect xmlns:a="http://schemas.openxmlformats.org/drawingml/2006/main" l="20126" t="0" r="20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239000" cy="40386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F8DA8C49-3774-4E86-9DB6-1136459F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EA44CF95-0C4D-404C-8893-894A77E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F8663AE-F3A9-4234-8E23-2842A45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(｀・ω・´)  #探索 #伏線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295BEDBF-9ABC-4402-A377-3A1836A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AF01725B-9853-4DB1-AD35-0303ED1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3395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1D8CFA-A97C-46D9-A1FA-B7CC9FFD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625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接続イベント：次工程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3E534A0-D869-41B2-8E13-526CE5AD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09725"/>
            <a:ext cx="3562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3599F5-9825-474B-A5B5-A4954376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3562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08C72F6-C805-4CFA-AAA4-5DDFA50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4099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3428C62-8257-4500-8009-381D2D1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E9ECE93-08D1-4D09-8D4B-2476016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9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特別な来訪者が強い料理を求め、赤鬼の立札が見つかる。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AC661C6-59EC-4A09-8E5B-280E04F4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80B2DBD-8DEA-4EC4-BC95-6C033DD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上下二層を往復し、消える雲、落下足場、隠し洞窟などの地形ギミックを読む。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A5C102-6945-463A-8062-69EA95E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02F661D-E7AE-4DE2-92B9-5274F78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金色の「！」が現れ、赤鬼へ挑戦するかを選ぶ。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3CEC41D-602F-4B45-8EC6-8EF04A4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990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6F40BCC2-1BD9-47F2-BA76-DE54764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990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D33F15B-DD42-4CD1-9A02-17F3D86D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57725"/>
            <a:ext cx="283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Scene：Stage_1_Route_Prototype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6F3C642-0474-49D1-85C3-33D430AB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76925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27ACA3E-E251-46D3-9542-A5CB4BE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8A48026-63ED-45EB-9BAC-0F30B11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4CDAE83-3805-4490-8D88-06DDA8F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47A96E0-9BDD-4C2D-B625-BA5B4D55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判断ポイント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A955E9B-CE73-47BF-8432-A8DFFC20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65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昼の依頼を夜の移動目的へ変え、Boss前にプレイヤー自身が挑戦を選ぶ流れです。</a:t>
            </a:r>
          </a:p>
        </p:txBody>
      </p:sp>
    </p:spTree>
    <p:extLst>
      <p:ext uri="{BB962C8B-B14F-4D97-AF65-F5344CB8AC3E}">
        <p14:creationId xmlns:p14="http://schemas.microsoft.com/office/powerpoint/2010/main" val="694530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CC55867-7846-4ED7-997A-EA50892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72A01AB-87D4-4AD4-8F9B-B868A0B5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5158DA-395F-4972-B2C6-1BB5175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AD3AD28-B5C6-429C-A4F9-85DC2E8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594C6F-F957-4679-AF6B-9E6D1ED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3/3：赤鬼決戦と、昼への帰還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4208C0-9149-4C9B-B303-D11FA9B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A085C0-5894-4AA2-9FBD-6AA5986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E5633E-D57A-4C8B-906E-2D18571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8287F8F-4B0D-4626-B158-67926A8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pic>
        <p:nvPicPr>
          <p:cNvPr id="48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e89b13f4b4f78"/>
          <a:srcRect xmlns:a="http://schemas.openxmlformats.org/drawingml/2006/main" l="6933" t="0" r="6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6191250" cy="4267200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F853BFD-4361-4754-ADCA-7B09CB41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609725"/>
            <a:ext cx="4591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50C4CE-16B5-4C88-8735-1BFE2F3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43050"/>
            <a:ext cx="4591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183AAD-356E-4292-A647-11194DA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443865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52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21880161f4d85"/>
          <a:stretch xmlns:a="http://schemas.openxmlformats.org/drawingml/2006/main"/>
        </p:blipFill>
        <p:spPr>
          <a:xfrm xmlns:a="http://schemas.openxmlformats.org/drawingml/2006/main">
            <a:off x="7334250" y="17526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DF6B464D-2470-4648-A510-A7A35C2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B9D0C087-E96F-441A-91F5-1950ED9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E74F4A-3FCE-4743-BE02-BDFEC01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145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(ง •̀_•́)ง  #Boss #FinalRush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A80866-6ED8-4D62-904C-914B9E72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DC84F0-C23A-4C80-981C-071334E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赤鬼の挑戦を受け、専用Boss空間へ入る。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6B2CE3-F80B-421D-9C06-CD8C8F9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C03EF4F-2C4A-48A2-B812-1C7941E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4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3フェーズを読み、最後は福豆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（Faith Bean）でFinal Rushを突破する。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EE681A-15DC-4071-B85E-83A0789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259EBFC-FBC6-4F5C-ACA4-A9C3235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赤鬼がカフェの仲間となり、辛い料理を解放する構想。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6B1D0073-633C-4FC5-991A-FF847738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9BEF2B73-F3E1-4527-9C5F-FCA7FEC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435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911F67E-6060-4D5B-B715-03320089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20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Boss実装済み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528B9B09-F61E-4E8C-B47C-6ACB252A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816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BAF5D57-A15B-4AAB-930A-8C3F996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A15D4B6-D40C-4338-9D0D-29A1798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72075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加入後：将来拡張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31A2DE2-1547-43DB-AB5C-3A4163F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76925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F601782-CEF5-4AE9-86C0-03B5132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D9246F4-304D-4822-B250-0508E9A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7CD01869-CE52-4A9D-9A0A-DC9F5E7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D25790D-9F97-4483-B3A7-FB4859D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制作意図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0A6347F-48AB-49D5-ACF3-9F2AB8D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65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戦闘の結果を昼のキャラクター関係と新しい料理へ返し、3ステージを一つの循環にします。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312937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2F80125-AC56-4B4F-84E4-DB91B004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29ABE0-2389-47A5-A163-451B3F4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352F996-B101-4401-8ECB-70527FC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ITERATION CASE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A329A1-DC4F-43B8-A27C-797DD9C5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129D2B-5537-45CB-B0BE-F29717A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赤鬼Boss：攻撃を「難しい」から「読める」へ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06FA1-84AA-4515-8E16-F4C4246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9B93226-E8A8-48A0-8585-103F56B2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5F79339-31FC-4057-A189-AA1F4AB5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9D6C24-2089-4B3C-A1CB-C2FCAEF0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618C844-9533-4ED7-911A-EF03DCE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97468E6-3F31-4D36-B902-0DB7E360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63BBED-494C-4507-8219-1C0EDC8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65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535407f2841b9"/>
          <a:srcRect xmlns:a="http://schemas.openxmlformats.org/drawingml/2006/main" l="16515" t="0" r="16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BF9EF0C-6AD6-46C1-AA73-8BD6D9D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6EFB5B2-F65D-4F13-A8DA-3FC7D7F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FB249-9BC5-4618-BEC7-5C956A2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PROBLEM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8E88FAC-7E83-4034-95FA-A8D9879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高・中・低が読みにくい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47D4F34-C724-481B-B41C-4E05CE0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9D0135-99DF-4451-8A04-82B31A0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4F37711-9AEF-478C-9234-6A9A52F5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73" name="图片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feead2e6043ee"/>
          <a:srcRect xmlns:a="http://schemas.openxmlformats.org/drawingml/2006/main" l="15651" t="0" r="156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EFC18225-4FD2-471A-AFDC-1784A84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78D5E75C-65DC-475A-8140-2532CDC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F0EA32A-91B2-415A-990A-4C9C0A0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DECISION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F81FF2A-FF9A-4A09-8275-8379E52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3レーン＋予兆を統一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1671B5D-E89F-4736-9453-C1636DE5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122331F-D87D-49E4-A873-1B679B6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BE890DA-E949-43AF-9641-7443BCD2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1" name="图片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345561fd446c"/>
          <a:srcRect xmlns:a="http://schemas.openxmlformats.org/drawingml/2006/main" l="16493" t="0" r="16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30" name="矩形: 圆角 29">
            <a:extLst xmlns:a="http://schemas.openxmlformats.org/drawingml/2006/main">
              <a:ext uri="{FF2B5EF4-FFF2-40B4-BE49-F238E27FC236}">
                <a16:creationId xmlns:a16="http://schemas.microsoft.com/office/drawing/2014/main" id="{4FFF22EF-56C4-4B76-8B89-C2E4FA1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A06F4CEC-F49B-47E6-A690-494C0E5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B44CB3B-E70E-4165-88AB-DE9740C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IMPLEMENT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BA78C87-CF11-4F38-B998-A89E81D7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HPフェーズ別に攻撃変化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DE1B01A-D2BD-436F-9BF6-92C1C9E5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3DD1A01-2D09-4E2A-9BFE-9EC921D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F2E04294-FCD8-4CA3-83F5-F0690EB3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9" name="图片 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0bc19602a45c8"/>
          <a:srcRect xmlns:a="http://schemas.openxmlformats.org/drawingml/2006/main" l="16377" t="0" r="163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E271E062-ED1F-4479-B073-288B46D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D96C3FE-22D6-4D92-9FD5-120EE8B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D1B0D2D-C318-4613-9B85-C96FABB0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TEST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35A0F5C-F139-401C-9699-AD28D78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位置・被弾・遷移を確認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95C2254-34FA-4257-8E42-5053C0D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76875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A8DFC01-A4D9-420A-8668-21052CE9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DB7C515-2279-4B0C-9598-E517B1E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14975290-3EDE-485B-96B5-0B2C3B6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E55D6D3-9AC2-4663-B2D4-A2923000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改善結果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8806A48-5D14-4761-B200-8E0B2A8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23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自動Play Modeで攻撃位置・被弾・HP遷移を確認。手動操作感は継続調整。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攻撃レーンと予兆を一致させ、失敗理由を視覚的に特定できる状態を目標に再設計。</a:t>
            </a:r>
          </a:p>
        </p:txBody>
      </p:sp>
    </p:spTree>
    <p:extLst>
      <p:ext uri="{BB962C8B-B14F-4D97-AF65-F5344CB8AC3E}">
        <p14:creationId xmlns:p14="http://schemas.microsoft.com/office/powerpoint/2010/main" val="1936679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2485FBE-E1A6-4797-BA07-A010F44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817E351-02ED-4381-8FC0-704EBA0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9ED9D9-D3CF-4705-B062-0291049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DESIGN DECISIONS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404F59-47B3-45E2-8161-F6890D75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9B4A92-33E4-4668-856E-B5C92376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100日間で行った主な企画判断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1D77FF-5275-4B87-9E48-12469A8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4FE3BDF-D3E5-4314-9EA5-4721F88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EEA4374-9976-43E6-917E-E6BE098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0366929-996F-4EC1-B5BB-4AFDFBE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97BBA81-B6B7-4307-9772-65E588E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ABD2F10-9F61-4640-98F8-66E999E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46C5E82-67AA-44CF-BF2C-EC54252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昼夜連動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24ABBE7-0A09-4681-A52A-5CE5EA4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14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成果を昼夜で相互に戻す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674EDEA-BCEE-4BAD-B157-9993AD6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192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B035E161-9C78-4EC4-BA3D-BC83DDC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811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2098CCA-E3CF-4DD8-A4B1-9F482394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一つの循環にする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DE4D82E4-0757-4435-9AE8-D508884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21E9D165-B40B-4B98-B5F6-6D891CA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9A17AEF-5E27-4A27-ADA1-2DFD76A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Boss予兆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405567-0DDE-42FA-92C1-4452BCB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3レーン＋予兆へ整理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58A94E6-1016-4BA0-A8D6-03163948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0EA104A5-8E8D-4846-ABDC-A66C3A0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03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48FE6AF-4A3D-4CC7-966C-A1F71192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学習できる難しさ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788A8EE0-78C6-4A20-B63B-D272D19D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6D0BF8E9-1B28-4795-948C-015C7D1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68416A-D99E-4514-BE7F-26681A3D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UI管理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FD44292-0DA9-42BC-BA9C-7652244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操作意味単位でスライス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E616724-8F92-4801-8F4E-6CA3A257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8757A0A-5F80-40C4-A227-9FA2C31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194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96403-C7E1-4C46-A4D3-2B371CAA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変更範囲を限定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2769F042-58F2-48BD-9528-B2B7EB26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A079B74-1210-427C-A82A-E76A8E2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A69426-6695-4B27-BEEC-30E13F8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素材参照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1D99700-9E5B-4C5D-B0DE-B3BAABF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一括自動化から手動確認中心へ</a:t>
            </a:r>
          </a:p>
        </p:txBody>
      </p: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EFA218C5-19A0-4CC5-939E-DFE579D4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767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441BCC36-45B1-4C63-8ABA-5DD7848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DE5A833-1B7A-476C-9D14-97FE06E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6720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参照の安全性を優先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8FA3F5C0-0BAF-4643-82A6-39AB7B2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305F9CC5-CB17-4C2B-914F-5864831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111C91-D0BD-40B1-8CBE-38FA950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要素追加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505A806-5419-41EC-B62F-EB6748B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Vertical Sliceへ収束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D1770EFE-7F9C-478B-899C-68C3E16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958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C6A65E6E-FFDC-407F-8C9D-391CEDEF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577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B8E13B7-7746-4B57-B704-ED1DE24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第一章の完成度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9D1B06E-D38A-4F6F-BC94-9DAAD20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4357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8D5DD60-0FBC-4519-942E-B914CC2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961B1AB-0C7B-4688-9E57-23AF04A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146BF2A4-0FF3-4BDC-827A-0E5AE6B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3BA6E66-9125-418A-8D3D-FBF2577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判断ポイント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A79C16D9-7D67-49EC-A0D4-6203F33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340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機能数ではなく、問題・判断・理由・検証結果を記録し、次の仕様へ戻しました。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27557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0197DF0-6DDB-45D2-B051-E1B0159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EEE675-1F9D-4BE4-A20E-3916DBFC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7BCE2A-A981-43C4-B496-68B5986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UI &amp; ASSET PIPELINE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A39D711-E05F-4ABB-9B70-0406F2F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F74CF5D-67DC-4682-BF1C-57B345D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UI・スライス設計：操作を迷わせず、変更範囲を限定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1D4AAA5-6A61-41F0-905F-2644FA4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718225-64ED-4750-A16D-28108A15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3E2317-EF4D-476A-8F07-BAB7BD7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91151A-BD1C-4FC6-83FF-B8C9AD0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pic>
        <p:nvPicPr>
          <p:cNvPr id="59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d3fa699b8406c"/>
          <a:stretch xmlns:a="http://schemas.openxmlformats.org/drawingml/2006/main"/>
        </p:blipFill>
        <p:spPr>
          <a:xfrm xmlns:a="http://schemas.openxmlformats.org/drawingml/2006/main">
            <a:off x="777875" y="1581150"/>
            <a:ext cx="4216400" cy="3162300"/>
          </a:xfrm>
          <a:prstGeom xmlns:a="http://schemas.openxmlformats.org/drawingml/2006/main" prst="rect">
            <a:avLst/>
          </a:prstGeom>
        </p:spPr>
      </p:pic>
      <p:pic>
        <p:nvPicPr>
          <p:cNvPr id="60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90457cdb04351"/>
          <a:stretch xmlns:a="http://schemas.openxmlformats.org/drawingml/2006/main"/>
        </p:blipFill>
        <p:spPr>
          <a:xfrm xmlns:a="http://schemas.openxmlformats.org/drawingml/2006/main">
            <a:off x="5657850" y="2076450"/>
            <a:ext cx="2895600" cy="21717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34FF30-F765-4F79-AE58-690B760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47825"/>
            <a:ext cx="2705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6FB66-9086-4A08-B1A9-BB9B3E4D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705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A808C65-F43F-4AFF-B974-740615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552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454FC5C5-43C1-4847-9645-7E945BF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793DEF-F498-4ED8-9C84-4F95912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Menu Atlas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5C81118-6C2F-4DD5-B46F-B753A8C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19145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88831F0B-2F69-4A3C-A785-F851E653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849EB1-8229-46FA-91ED-4F8F42D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Cursor States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968DFC-6DA8-4A77-893F-6FD890B6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26003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87F2A061-9970-4988-A843-54C6A640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6F448A1-22DE-4951-8CFD-71BA31D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051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Source PNG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B8E81F8-74E6-4FF6-8F35-756B65B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32861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維持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5AF5EE00-3677-43EA-B9E5-3F6ABCF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D7B9CD2-8F31-428F-92D4-4C3E527F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909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Reference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0D3D872-D0ED-44CB-A875-F531F66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39719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維持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C23C147F-418C-4DE5-9851-3D7FAEC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868C219-A960-4693-89E6-1189C71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9716A-0297-4A81-8699-DB73C40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0DF96CB-EEB1-4007-A6D4-345E6D5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意味で分ける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CAFEF22-C7C9-4509-A726-C433C0E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操作単位で分け、仕様変更を局所化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BEC529B0-0B48-4361-A526-E144E22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4EBBB837-3DCE-496B-B711-26E73E23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86763B-D6BA-4F40-9F28-477FDB8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14D33AE-4E15-4D57-96A8-1242608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名前を固定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BC53B1D-8D3A-4D91-A346-20D7D22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Normal / Selected / Cursor状態</a:t>
            </a:r>
          </a:p>
        </p:txBody>
      </p:sp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7B38D78E-6E33-4C47-B25B-091731C7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691BFE01-BAD6-4800-B00F-A9CF39B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61AC40C-A371-4D67-A943-58EF02F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2278E15-F606-4E24-9988-7392CBB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参照を守る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DB71588-9A16-4E45-B130-B0C5813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GUIDと内部IDを維持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096703AE-4F4A-4DC4-A187-AF6E562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E9A5A9EC-B3A3-4F25-BEFA-317C5FE2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8B30A46-3041-49EE-BBE1-567BF45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5FA70C7-1271-48E8-B0E6-87CE1A6D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画面で確認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D929B9D-296F-4D0F-B5E0-82E1A7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昼夜画面で視認と操作を確認</a:t>
            </a:r>
          </a:p>
        </p:txBody>
      </p:sp>
    </p:spTree>
    <p:extLst>
      <p:ext uri="{BB962C8B-B14F-4D97-AF65-F5344CB8AC3E}">
        <p14:creationId xmlns:p14="http://schemas.microsoft.com/office/powerpoint/2010/main" val="178241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A6EAFB8-033F-4D63-80AA-5773C078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80EDAD-AA44-4843-AD24-0E223E0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2A496C5-78BD-49A9-94D3-37A1151A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MUSIC &amp; SOUND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EBA8B7-5B94-4B83-AA53-DBDF4E97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895479-FF48-49A5-A498-1DD1DF0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音楽設計：画面の切替ではなく、感情の位相をつなぐ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BE24EC6-823D-46DF-8450-0274DF55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47D9A1-2848-4399-9FAD-6DD585F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39AED7-5139-4117-94FC-3C9C571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D8F7B4B-119F-4CBD-9850-6DC6BCC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1532592-79D9-4D10-8124-158E03E7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59242A-1CAD-41EC-8672-B379E9F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2DCB849-F11C-4998-8DCD-72A38A5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1EF8BA9-95DC-4069-8CFA-BDE075F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F80297-A97E-4E62-8A30-3459B30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TITLE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20F4787-D0D1-4223-A0F6-37B8E54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楽しい / 悲しい / ランダム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DF856C6-7D30-4C56-A5DD-1ED925C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500A5D1-E0CD-4243-B48D-9BAFB14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CB0289E-DE9C-414E-9894-EA456B62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B706036-DC33-422A-9BC5-ECA7888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4365019-D19A-4FBB-9353-2D3A032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DAY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0FB6063-D139-40A8-9A57-DF02566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Hub / Shop / Cafe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92824C-E464-4F37-8134-8AF28A0A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EABE6D-CB80-401F-8BEA-0906556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5410F29-9157-4865-B8C6-7C6E721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78ADB62-F234-44B8-B9D5-41868A94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89E1756-BE96-46A8-A05E-1D722E09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NIGHT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AA07BCE-53B6-4A72-B6B2-79535BA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巡回ループ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EB05594-609E-4872-8BFA-EB6B6C6A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7CBE7B3-68BE-4C4B-A4D4-480AF4D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78C631-F117-4208-99EE-B38BAF3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56263F-128C-476B-8190-9CD5EDE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EFA9529-8A87-43C6-BA49-92AD1F6A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2D4CE3B-1AF5-432C-B467-1C17796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Cage 1 → 2 → 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D8B1CA9-8906-4A9D-9F0E-7FE4BFD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706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78D5105-EFF8-49CD-8626-271DCC0F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706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FE36040E-0E63-4CC3-BED0-CD8F60A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915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EFFFC8D-980C-489A-882A-48ABD8A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5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SEが入力の成功を返す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C1000716-5D11-4387-B700-C20E5E3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F69466FC-DA44-477A-BFB5-79F745F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8F40DCA-2049-4E44-BAEC-04A9279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Hover：風鈴</a:t>
            </a:r>
          </a:p>
        </p:txBody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A74B61D7-061F-4252-9251-CC7B4A9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26F6841F-945D-438B-95C3-4BBA157E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910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8FFAE31-EE2C-4489-B3BD-FF125B3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95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決定：灯籠の着火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6ED16E6D-EF25-46AC-979E-4CA4E9D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8DE2AEF7-C47B-4E29-BC91-DAD52C9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E406FBB-3346-43F1-B618-20E11BE1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Jump / Land / Attack</a:t>
            </a:r>
          </a:p>
        </p:txBody>
      </p:sp>
      <p:sp>
        <p:nvSpPr>
          <p:cNvPr id="47" name="矩形: 圆角 46">
            <a:extLst xmlns:a="http://schemas.openxmlformats.org/drawingml/2006/main">
              <a:ext uri="{FF2B5EF4-FFF2-40B4-BE49-F238E27FC236}">
                <a16:creationId xmlns:a16="http://schemas.microsoft.com/office/drawing/2014/main" id="{EAEA804F-3F92-4FFB-81E8-1780A69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577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567C2775-506A-475C-A6BD-F62E3757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9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8336B80-AD23-4C75-BEEC-7F9A940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Hurt / Pickup / Retry / Clear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6FD5176-8C11-475F-89CE-3CA10E2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95675"/>
            <a:ext cx="3619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AFC4B5-D506-4A15-8C6A-1E61CAE0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619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A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7E3AB14-6A1B-417D-A8EE-CA6BD570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346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9E6B205-F708-4279-9D07-82D7E1A0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DEATH / RETRY：LOW-PASS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D7A436B-2A59-425C-94AB-592A3A6D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22 kHz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EE709A4-91AA-4553-B54E-D49803F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18AA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18AA7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45541CF-0054-45AD-9184-130AB654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91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400 Hz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CF311C3-B1FD-4F39-8B98-9970EFB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FE7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E7F2"/>
                </a:solidFill>
                <a:latin typeface="Yu Gothic"/>
                <a:ea typeface="Yu Gothic"/>
                <a:cs typeface="Yu Gothic"/>
              </a:rPr>
              <a:t>音量 40%へ / 復帰時に解除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8B2E4689-A3C1-4C7A-99BC-34E3AFA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目的：BGMを装飾ではなく、場面・フェーズ理解の情報として仕様化</a:t>
            </a:r>
          </a:p>
        </p:txBody>
      </p:sp>
    </p:spTree>
    <p:extLst>
      <p:ext uri="{BB962C8B-B14F-4D97-AF65-F5344CB8AC3E}">
        <p14:creationId xmlns:p14="http://schemas.microsoft.com/office/powerpoint/2010/main" val="11639341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70FE5C2-331D-4FCA-8BCA-1850691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A55EA73-C932-4214-9B58-603D6F6B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C51C1BE-72DE-47C9-B007-12036F3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QUALITY GATE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6906D86-82BE-4B4F-8D7A-EE19F2B9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AF8538-37D7-4833-8899-6935669E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テスト結果：何が動き、何をまだ確認するか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75359-96C2-4458-BFFF-3D98E7D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538A40C-522D-46B5-B3A5-80C279A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E6D358A-002C-4D31-94D8-B0CDB20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87AA2B-797F-4E0D-8442-9414514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50887AC-885B-4BAA-9742-1217600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4D84E08-59F3-4BFE-B18D-F0F5489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5D4F2AA-E8AF-494C-994B-43D7C27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99B3B4C-02A7-4EBB-B47E-450FA94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5CC3C5-328B-43A6-8D72-9AAC7CC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実装済み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515C1E57-A9B9-4FD4-B201-197DC9D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3974010-FA79-44F3-9FED-8F91C0A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816113C-C1CC-4C1D-BEA7-B3BB7DA7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昼の拠点とカフェ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7C86C965-8659-4321-A8A7-B4016EF5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EA69B2C-4E99-46C1-998F-272E804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0E12E-8A14-45E0-A042-B6AE932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夜のACTルート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F4846CD2-D69E-4748-B1B7-008AAEF9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FD0152C-8987-41AE-A038-A9450C6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4196AAB-3ECC-4232-BBE3-984DDD61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赤鬼3段階＋Final Rush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AB51AD29-CDF9-40FC-A9F1-9424B848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738CACE-2854-48C3-9180-A4E3F3B6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6C8505-2C75-4339-AFD8-E41B242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BGM / SE / UI共通機構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BE75A94-827D-47BB-9B6C-C0074FA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1312FE1-D229-4BB5-A4DA-F3E4B82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BE2A6E3-7954-4C63-970C-058C950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EBFD475-1E4D-46D0-986D-6FABFF9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85A4C8D-5F3A-4E09-9D56-5802CA7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自動確認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B003009-FEB2-45CF-90CE-745547F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219B89-6037-4604-B572-9F93042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655E400-F7CE-406A-BB79-EDF16A90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主要シーン構成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30640D09-90A6-42FD-84C1-D2A4E82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018DA0F-5861-4DEF-A0B7-73A4C0F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79DC23F-C5E2-47AD-BA52-7557025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Sprite参照・スライス</a:t>
            </a: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46234329-98DB-400F-B400-0DB0746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3A25486-8948-4E86-8594-CF1AE3A3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54D515D-87DA-4A1A-B088-FAC40A7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Boss条件の検証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1A030516-AD81-49D0-8D20-D6349DB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8CBDA389-930C-4A49-AA8F-750C0036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D979550-8799-4346-A056-ABCA2E29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ビルド前の静的検査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33BB89-275C-457F-9493-DFC2926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509BA2D-05F4-414B-8AA3-FCAE87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14AE555-84C9-4B5A-862A-847EC4F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6F7E53-CE03-4F34-A15F-D4B90DE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1A2D39C3-B245-46FD-B1A0-1A4F64D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手動確認中</a:t>
            </a:r>
          </a:p>
        </p:txBody>
      </p:sp>
      <p:sp>
        <p:nvSpPr>
          <p:cNvPr id="49" name="椭圆 48">
            <a:extLst xmlns:a="http://schemas.openxmlformats.org/drawingml/2006/main">
              <a:ext uri="{FF2B5EF4-FFF2-40B4-BE49-F238E27FC236}">
                <a16:creationId xmlns:a16="http://schemas.microsoft.com/office/drawing/2014/main" id="{DE6811AB-3517-455F-B72C-74170E05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CA28170E-F90A-4EC7-A6A2-92C3D3C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E89BEA6-9B3B-4F7E-9DB2-BBFD0E2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通しプレイの操作感</a:t>
            </a:r>
          </a:p>
        </p:txBody>
      </p:sp>
      <p:sp>
        <p:nvSpPr>
          <p:cNvPr id="52" name="椭圆 51">
            <a:extLst xmlns:a="http://schemas.openxmlformats.org/drawingml/2006/main">
              <a:ext uri="{FF2B5EF4-FFF2-40B4-BE49-F238E27FC236}">
                <a16:creationId xmlns:a16="http://schemas.microsoft.com/office/drawing/2014/main" id="{B1BF113B-3828-43F2-937B-4DF20A4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6DE8E5A4-A50C-4352-B554-70903DB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37959D8-2CCE-4E87-9A34-75A6BB9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UIの最終視認</a:t>
            </a:r>
          </a:p>
        </p:txBody>
      </p:sp>
      <p:sp>
        <p:nvSpPr>
          <p:cNvPr id="55" name="椭圆 54">
            <a:extLst xmlns:a="http://schemas.openxmlformats.org/drawingml/2006/main">
              <a:ext uri="{FF2B5EF4-FFF2-40B4-BE49-F238E27FC236}">
                <a16:creationId xmlns:a16="http://schemas.microsoft.com/office/drawing/2014/main" id="{2B822C9F-7D22-452A-96C1-8611FB2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2F74B6B-75AD-44B8-9FB9-D8F0CF5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18ED0247-92AF-423D-9B4A-F1794D6F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音量バランス</a:t>
            </a:r>
          </a:p>
        </p:txBody>
      </p:sp>
      <p:sp>
        <p:nvSpPr>
          <p:cNvPr id="58" name="椭圆 57">
            <a:extLst xmlns:a="http://schemas.openxmlformats.org/drawingml/2006/main">
              <a:ext uri="{FF2B5EF4-FFF2-40B4-BE49-F238E27FC236}">
                <a16:creationId xmlns:a16="http://schemas.microsoft.com/office/drawing/2014/main" id="{C7018ADD-E88C-49F6-B0FB-BE7DD56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9011B5A-11BD-42ED-AF12-AA0405F2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0F0D427-8435-4683-8D30-F14BABD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昼夜ループの通し確認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A951CDF-37CC-4ABD-95C4-CB8A356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55B3CFA1-2475-4E52-AE1D-64176CE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9CB4D5A4-826D-4478-8F48-268B404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64" name="矩形: 圆角 63">
            <a:extLst xmlns:a="http://schemas.openxmlformats.org/drawingml/2006/main">
              <a:ext uri="{FF2B5EF4-FFF2-40B4-BE49-F238E27FC236}">
                <a16:creationId xmlns:a16="http://schemas.microsoft.com/office/drawing/2014/main" id="{F84F750B-6F08-4A91-829D-A53551C4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E2CC17B3-F45A-4A56-BA69-8784ED8B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02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検証方針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4EA6AF1-9FE1-44FF-9DF4-065CF93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実装完了とプレイ品質を分けて評価。提出版では自動確認と手動確認を明示します。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9859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5ad7444484d52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938A75-968B-42DB-9939-820F7C8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6F88A0C-C053-4B12-B2F9-7898385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WHAT I CAN BRING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C15E4D-9A70-4DDE-A08B-1F5EBE9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考えたゲームを、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遊べるところまで持っていく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661B4C9-78F9-4257-9658-CDC6985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A18896C7-0D0D-4CDE-82F1-5C4B87C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650884F-FEFC-4EEB-A748-22BFFBF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FE4376-8469-49FC-B271-B79E02E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64C2D3-BACF-427D-A1A6-8D69655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企画する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E847488-3358-4071-B6A0-AF4BFFF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体験から仕様を組み立てる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EE8BDF3-181A-4C60-B338-8E62B61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598DABE2-D814-4CE7-8ECC-14C733E7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430373DF-9B2A-453B-AFFA-FF13D9B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6FB0E4-4622-4F28-B41E-0F1ADE08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81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E94415-5718-4E31-93FD-1CE9018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作る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EBC109-A2FC-41D7-9A86-61C0B18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Unityで試せる形へ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0D7A28-9A13-4B9E-9F17-6179C67B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D3B4F69-E15F-4B57-9DB2-9F3314E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45FB733F-2EB3-4E5D-A6F9-C4C5506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CFE161E-2EB7-473D-AAFD-76172047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EB9998F-76B4-4F0E-8DD8-6807347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検証する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EF0182-73EC-4BC0-B63D-9CFDBB1F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「動く」と「面白い」を分ける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D736FDBA-1387-498E-9080-57E0096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290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88DCA6ED-4ED0-40BC-8B3A-3ADDA77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BB25F7B6-148F-4D5F-AB73-90B5E292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FC24C7-3434-46EB-A4D0-A69B6CF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E2264B-3F36-4CCC-B460-D11879C3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直す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97038E8-0A9D-4C88-B951-33C47B7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問題を仕様へ戻し、次の改善へ</a:t>
            </a:r>
          </a:p>
        </p:txBody>
      </p:sp>
      <p:pic>
        <p:nvPicPr>
          <p:cNvPr id="64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c884ae54d412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90387" y="553106"/>
            <a:ext cx="1306313" cy="1575075"/>
          </a:xfrm>
          <a:prstGeom xmlns:a="http://schemas.openxmlformats.org/drawingml/2006/main" prst="rect">
            <a:avLst/>
          </a:prstGeom>
        </p:spPr>
      </p:pic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FADA9A9C-3AF1-467A-9D1D-A047506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7905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2CFC7-8F94-42FF-B0F7-173020D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企画からUnity実装・検証・改善まで、自分で判断して進めた制作実績です。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663F1F5-89E2-4020-AA09-5A777E0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rPr>
              <a:t>THANK YOU / 夜神社カフェ</a:t>
            </a:r>
          </a:p>
        </p:txBody>
      </p:sp>
    </p:spTree>
    <p:extLst>
      <p:ext uri="{BB962C8B-B14F-4D97-AF65-F5344CB8AC3E}">
        <p14:creationId xmlns:p14="http://schemas.microsoft.com/office/powerpoint/2010/main" val="770219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13A82E1-05CA-48F2-B0FD-77552810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81D888-B209-450C-8D4C-D25FD87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F7A88B-56BA-4B56-A27E-3F02FDD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APPENDIX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261E997-6E3E-4014-9C4E-5D58600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5090CA0-1EA0-4EB9-A3E2-B49821A2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事業仮説：予算条件と販売感度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19823F-C149-4FB3-B60A-DC45D778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DEC8B5-D2F3-45E2-9D1C-782AF8E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EB36C3-4EAD-42DC-BE10-6E1AEAB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CF537A-85E2-4363-915C-A348F6F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C874727-7038-47CF-A83B-7263C6AE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価格仮説 ¥1,800 × 平均実売72% × 控除後70% ＝ 手取り約¥907 / 本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49000" cy="2590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714500"/>
                <a:gridCol w="2000250"/>
                <a:gridCol w="2190750"/>
                <a:gridCol w="3524250"/>
              </a:tblGrid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販売本数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手取り売上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フルコスト差引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次の判断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保守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5,000本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約454万円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▲約596万円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Scope縮小・資金防衛</a:t>
                      </a:r>
                    </a:p>
                  </a:txBody>
                  <a:tcPr marL="66675" marR="66675" marT="104775" marB="104775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15,000本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約1,361万円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+約311万円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更新・次章へ再投資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上振れ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50,000本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約4,536万円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+約3,486万円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多言語・移植を検討</a:t>
                      </a:r>
                    </a:p>
                  </a:txBody>
                  <a:tcPr marL="66675" marR="66675" marT="104775" marB="104775"/>
                </a:tc>
              </a:tr>
            </a:tbl>
          </a:graphicData>
        </a:graphic>
      </p:graphicFrame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DF059B64-3074-43BF-BB9D-FA63FB8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71FE579-7642-4EC1-9332-B231748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720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FULL COST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76DDD96-B882-4EB0-8BBC-8EF1752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205" y="5153025"/>
            <a:ext cx="16649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1,050万円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AFD4D1-00C4-4D7F-9DA1-0BEAAD1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406F0DD-CDF7-4998-8913-24616A9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720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CASH REQUIREMENT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35B8823-B0B9-45CD-9BFA-53C619E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5153025"/>
            <a:ext cx="16649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630万円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F77B453-8043-44DD-9695-9845742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企画仮説。売上予測ではなく、予算条件に対する販売感度を確認する。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6626273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12b41157f4c57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B3CFCB-4D50-21DD-E02B-D1B5B1CE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3ce38feb54e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5587" y="5086338"/>
            <a:ext cx="1393111" cy="1573594"/>
          </a:xfrm>
          <a:prstGeom xmlns:a="http://schemas.openxmlformats.org/drawingml/2006/main" prst="rect">
            <a:avLst/>
          </a:prstGeom>
        </p:spPr>
      </p:pic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CB35E7-0958-DDE9-14EC-3DDA47E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24" y="6287077"/>
            <a:ext cx="1764668" cy="224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defRPr>
            </a:pPr>
            <a:r>
              <a:rPr sz="2000" b="1">
                <a:solidFill>
                  <a:srgbClr val="D8E0EC"/>
                </a:solidFill>
                <a:latin typeface="Yu Gothic"/>
                <a:ea typeface="Yu Gothic"/>
                <a:cs typeface="Yu Gothic"/>
              </a:rPr>
              <a:t>夜神社カフェ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E07D4B2-5ED6-4B5F-F15A-C12C5E1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312" y="1856903"/>
            <a:ext cx="7583375" cy="3144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ご覧いただき、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ありがとうございます。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/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企画と実装を往復し、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遊べる形まで収束させます。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98680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2026-09-04T17:11:38.5640000Z</dcterms:created>
  <dcterms:modified xsi:type="dcterms:W3CDTF">2026-09-04T17:11:38.5640000Z</dcterms:modified>
</coreProperties>
</file>