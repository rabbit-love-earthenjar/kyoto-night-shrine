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6bd85188b3475b" /><Relationship Type="http://schemas.openxmlformats.org/officeDocument/2006/relationships/extended-properties" Target="/docProps/app.xml" Id="Re6cf4405ba574bb6" /><Relationship Type="http://schemas.openxmlformats.org/officeDocument/2006/relationships/officeDocument" Target="/ppt/presentation.xml" Id="R65aaaca9a5b941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388fd1050e4810"/>
  </p:sldMasterIdLst>
  <p:notesMasterIdLst>
    <p:notesMasterId xmlns:r="http://schemas.openxmlformats.org/officeDocument/2006/relationships" r:id="R07dc8c5251b048ad"/>
  </p:notesMasterIdLst>
  <p:sldIdLst>
    <p:sldId xmlns:r="http://schemas.openxmlformats.org/officeDocument/2006/relationships" id="256" r:id="R7f7742072b00411b"/>
    <p:sldId xmlns:r="http://schemas.openxmlformats.org/officeDocument/2006/relationships" id="257" r:id="Rf43b47fac4cf44d0"/>
    <p:sldId xmlns:r="http://schemas.openxmlformats.org/officeDocument/2006/relationships" id="258" r:id="Ref0c1a1822c341f7"/>
    <p:sldId xmlns:r="http://schemas.openxmlformats.org/officeDocument/2006/relationships" id="259" r:id="R5e4f5238edab4f07"/>
    <p:sldId xmlns:r="http://schemas.openxmlformats.org/officeDocument/2006/relationships" id="260" r:id="R67b7aa8b7fcb4474"/>
    <p:sldId xmlns:r="http://schemas.openxmlformats.org/officeDocument/2006/relationships" id="261" r:id="Rd622088ad5e54177"/>
    <p:sldId xmlns:r="http://schemas.openxmlformats.org/officeDocument/2006/relationships" id="262" r:id="R1ce9fa4c4588497e"/>
    <p:sldId xmlns:r="http://schemas.openxmlformats.org/officeDocument/2006/relationships" id="263" r:id="Ra17711d3280445da"/>
    <p:sldId xmlns:r="http://schemas.openxmlformats.org/officeDocument/2006/relationships" id="264" r:id="R5a8e7892ee104ef0"/>
    <p:sldId xmlns:r="http://schemas.openxmlformats.org/officeDocument/2006/relationships" id="265" r:id="R327005a418714f88"/>
    <p:sldId xmlns:r="http://schemas.openxmlformats.org/officeDocument/2006/relationships" id="266" r:id="R19f03e7379b24a51"/>
    <p:sldId xmlns:r="http://schemas.openxmlformats.org/officeDocument/2006/relationships" id="267" r:id="R282d024a3ca14164"/>
    <p:sldId xmlns:r="http://schemas.openxmlformats.org/officeDocument/2006/relationships" id="268" r:id="Rcc0dfd1907b8443c"/>
    <p:sldId xmlns:r="http://schemas.openxmlformats.org/officeDocument/2006/relationships" id="269" r:id="Re3b1db6ce973450e"/>
    <p:sldId xmlns:r="http://schemas.openxmlformats.org/officeDocument/2006/relationships" id="270" r:id="Rfdb4d075664f47c3"/>
    <p:sldId xmlns:r="http://schemas.openxmlformats.org/officeDocument/2006/relationships" id="271" r:id="R87929633393e43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aacae2684d4153" /><Relationship Type="http://schemas.openxmlformats.org/officeDocument/2006/relationships/slideMaster" Target="/ppt/slideMasters/slideMaster1.xml" Id="R99388fd1050e4810" /><Relationship Type="http://schemas.openxmlformats.org/officeDocument/2006/relationships/notesMaster" Target="/ppt/notesMasters/notesMaster1.xml" Id="R07dc8c5251b048ad" /><Relationship Type="http://schemas.openxmlformats.org/officeDocument/2006/relationships/presProps" Target="/ppt/presProps.xml" Id="R55d072ea479c4906" /><Relationship Type="http://schemas.openxmlformats.org/officeDocument/2006/relationships/viewProps" Target="/ppt/viewProps.xml" Id="Rebf6114a5f5c4a92" /><Relationship Type="http://schemas.openxmlformats.org/officeDocument/2006/relationships/tableStyles" Target="/ppt/tableStyles.xml" Id="R1cf6bb90b278495f" /><Relationship Type="http://schemas.openxmlformats.org/officeDocument/2006/relationships/slide" Target="/ppt/slides/slide1.xml" Id="R7f7742072b00411b" /><Relationship Type="http://schemas.openxmlformats.org/officeDocument/2006/relationships/slide" Target="/ppt/slides/slide2.xml" Id="Rf43b47fac4cf44d0" /><Relationship Type="http://schemas.openxmlformats.org/officeDocument/2006/relationships/slide" Target="/ppt/slides/slide3.xml" Id="Ref0c1a1822c341f7" /><Relationship Type="http://schemas.openxmlformats.org/officeDocument/2006/relationships/slide" Target="/ppt/slides/slide4.xml" Id="R5e4f5238edab4f07" /><Relationship Type="http://schemas.openxmlformats.org/officeDocument/2006/relationships/slide" Target="/ppt/slides/slide5.xml" Id="R67b7aa8b7fcb4474" /><Relationship Type="http://schemas.openxmlformats.org/officeDocument/2006/relationships/slide" Target="/ppt/slides/slide6.xml" Id="Rd622088ad5e54177" /><Relationship Type="http://schemas.openxmlformats.org/officeDocument/2006/relationships/slide" Target="/ppt/slides/slide7.xml" Id="R1ce9fa4c4588497e" /><Relationship Type="http://schemas.openxmlformats.org/officeDocument/2006/relationships/slide" Target="/ppt/slides/slide8.xml" Id="Ra17711d3280445da" /><Relationship Type="http://schemas.openxmlformats.org/officeDocument/2006/relationships/slide" Target="/ppt/slides/slide9.xml" Id="R5a8e7892ee104ef0" /><Relationship Type="http://schemas.openxmlformats.org/officeDocument/2006/relationships/slide" Target="/ppt/slides/slide10.xml" Id="R327005a418714f88" /><Relationship Type="http://schemas.openxmlformats.org/officeDocument/2006/relationships/slide" Target="/ppt/slides/slide11.xml" Id="R19f03e7379b24a51" /><Relationship Type="http://schemas.openxmlformats.org/officeDocument/2006/relationships/slide" Target="/ppt/slides/slide12.xml" Id="R282d024a3ca14164" /><Relationship Type="http://schemas.openxmlformats.org/officeDocument/2006/relationships/slide" Target="/ppt/slides/slide13.xml" Id="Rcc0dfd1907b8443c" /><Relationship Type="http://schemas.openxmlformats.org/officeDocument/2006/relationships/slide" Target="/ppt/slides/slide14.xml" Id="Re3b1db6ce973450e" /><Relationship Type="http://schemas.openxmlformats.org/officeDocument/2006/relationships/slide" Target="/ppt/slides/slide15.xml" Id="Rfdb4d075664f47c3" /><Relationship Type="http://schemas.openxmlformats.org/officeDocument/2006/relationships/slide" Target="/ppt/slides/slide16.xml" Id="R87929633393e43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d209ad3c843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d88557efcb4788" /><Relationship Type="http://schemas.openxmlformats.org/officeDocument/2006/relationships/notesMaster" Target="/ppt/notesMasters/notesMaster1.xml" Id="R65ff1d6f7ea141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a685fb69c14bad" /><Relationship Type="http://schemas.openxmlformats.org/officeDocument/2006/relationships/notesMaster" Target="/ppt/notesMasters/notesMaster1.xml" Id="Rce76be543a5c4f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5c5d2caa8f4b67" /><Relationship Type="http://schemas.openxmlformats.org/officeDocument/2006/relationships/notesMaster" Target="/ppt/notesMasters/notesMaster1.xml" Id="R0308091965ca4a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3804c8a08c4ea4" /><Relationship Type="http://schemas.openxmlformats.org/officeDocument/2006/relationships/notesMaster" Target="/ppt/notesMasters/notesMaster1.xml" Id="R7262f6f7533f44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e4537262204364" /><Relationship Type="http://schemas.openxmlformats.org/officeDocument/2006/relationships/notesMaster" Target="/ppt/notesMasters/notesMaster1.xml" Id="R7b1fcbd6410045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425029bfe549b1" /><Relationship Type="http://schemas.openxmlformats.org/officeDocument/2006/relationships/notesMaster" Target="/ppt/notesMasters/notesMaster1.xml" Id="Re60c373f37d647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558ee89d93440d" /><Relationship Type="http://schemas.openxmlformats.org/officeDocument/2006/relationships/notesMaster" Target="/ppt/notesMasters/notesMaster1.xml" Id="R39d658eb56ae40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88817af2cd409c" /><Relationship Type="http://schemas.openxmlformats.org/officeDocument/2006/relationships/notesMaster" Target="/ppt/notesMasters/notesMaster1.xml" Id="R71f66eda18dc41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98052dd9834ad5" /><Relationship Type="http://schemas.openxmlformats.org/officeDocument/2006/relationships/notesMaster" Target="/ppt/notesMasters/notesMaster1.xml" Id="R20db2736d37b4e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d3a29f5cae4e9b" /><Relationship Type="http://schemas.openxmlformats.org/officeDocument/2006/relationships/notesMaster" Target="/ppt/notesMasters/notesMaster1.xml" Id="R9a0f6bbd05b84d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740421cf4d4f18" /><Relationship Type="http://schemas.openxmlformats.org/officeDocument/2006/relationships/notesMaster" Target="/ppt/notesMasters/notesMaster1.xml" Id="Rfd76b4ad62b54a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a017b5fcfe4da4" /><Relationship Type="http://schemas.openxmlformats.org/officeDocument/2006/relationships/notesMaster" Target="/ppt/notesMasters/notesMaster1.xml" Id="Re178c6d8967444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0e040cdffe4a57" /><Relationship Type="http://schemas.openxmlformats.org/officeDocument/2006/relationships/notesMaster" Target="/ppt/notesMasters/notesMaster1.xml" Id="R636eb618755144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f341f36c864d0c" /><Relationship Type="http://schemas.openxmlformats.org/officeDocument/2006/relationships/notesMaster" Target="/ppt/notesMasters/notesMaster1.xml" Id="Rdfd464861ac542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b8051eb4684892" /><Relationship Type="http://schemas.openxmlformats.org/officeDocument/2006/relationships/notesMaster" Target="/ppt/notesMasters/notesMaster1.xml" Id="R6bf61283c16e46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c587aba2f94d70" /><Relationship Type="http://schemas.openxmlformats.org/officeDocument/2006/relationships/notesMaster" Target="/ppt/notesMasters/notesMaster1.xml" Id="R9fdcb11c343349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封面在演讲前展开，并示意评委是否可以开始。评委认可可以开始后，切换到下一页。</a:t>
            </a:r>
            <a:endParaRPr/>
          </a:p>
          <a:p xmlns:a="http://schemas.openxmlformats.org/drawingml/2006/main">
            <a:r>
              <a:t>Source: Project original assets / Self-produced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该页简报打开时，开始自己介绍，同时狐狸会自己鞠躬。开始介绍作品前点击鼠标，右边的介绍部分会自己延时出现。</a:t>
            </a:r>
            <a:endParaRPr/>
          </a:p>
          <a:p xmlns:a="http://schemas.openxmlformats.org/drawingml/2006/main">
            <a:r>
              <a:t>Scope: Personal project. Planning decisions, specification decisions, Unity implementation review, and final adoption decisions are handled by the creator. Support tools are used for material ideation, text organization, and validation assistance.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每介绍一个部分，按一次鼠标。</a:t>
            </a:r>
            <a:endParaRPr/>
          </a:p>
          <a:p xmlns:a="http://schemas.openxmlformats.org/drawingml/2006/main">
            <a:r>
              <a:t>Source: Self-produced screenshots / Unity project / Docs. The cafe, night route, and Boss are implemented; final route connection and full manual play feel remain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Target customers and purchase reasons are planning hypotheses.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assets / Unity project / Docs. The diagram represents the intended day and night core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Self-produced screenshot / Unity project / Docs. Scene Stage_1_2 is playable.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 / Unity project / Docs. Scene Stage_1_Route_Prototype exists; the final trigger connection is still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Self-produced screenshot / Project original asset / Unity project / Docs. Boss implementation exists; post-victory cafe integration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Self-produced screenshots / Unity project / Docs. Automated Play Mode checks cover attack position, damage, and HP transitions. Manual play feel remains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These are the main design tradeoffs recorded during approximately 100 calendar days of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assets / Unity project / Docs. Purpose: limit the repair scope when UI assets change and reduce specification-change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BGM and sound effects are specified as feedback for scene roles, phase changes, input success, and retry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Automated validation and manual play-quality review are intentionally reported as separate statuses.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 / Self-produced screenshot. Closing statement summarizes demonstrated work rather than future implementation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Planning assumptions only. Full cost: 10.5 million JPY. Cash requirement: 6.3 million JPY. Sales sensitivity uses a 1,800 JPY list-price hypothesis and is not a sales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cde2c08344b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bfeaed0a794dec" /><Relationship Type="http://schemas.openxmlformats.org/officeDocument/2006/relationships/slideLayout" Target="/ppt/slideLayouts/slideLayout1.xml" Id="R7d35a94cbfd344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35a94cbfd344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3a3e9ed724f2f" /><Relationship Type="http://schemas.openxmlformats.org/officeDocument/2006/relationships/image" Target="/ppt/media/image.png" Id="Re908c3459f424f9c" /><Relationship Type="http://schemas.openxmlformats.org/officeDocument/2006/relationships/image" Target="/ppt/media/image.gif" Id="Rfdad140ff407480c" /><Relationship Type="http://schemas.openxmlformats.org/officeDocument/2006/relationships/image" Target="/ppt/media/image2.png" Id="Re205be0c83cf4d8b" /><Relationship Type="http://schemas.openxmlformats.org/officeDocument/2006/relationships/notesSlide" Target="/ppt/notesSlides/notesSlide1.xml" Id="Re76693ce8f2e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86a466b984260" /><Relationship Type="http://schemas.openxmlformats.org/officeDocument/2006/relationships/image" Target="/ppt/media/image2.gif" Id="R2411870a034147b3" /><Relationship Type="http://schemas.openxmlformats.org/officeDocument/2006/relationships/notesSlide" Target="/ppt/notesSlides/notesSlide2.xml" Id="R59251c4d883f47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142a0134c43a4" /><Relationship Type="http://schemas.openxmlformats.org/officeDocument/2006/relationships/image" Target="/ppt/media/image3.png" Id="R0d943cdad688418e" /><Relationship Type="http://schemas.openxmlformats.org/officeDocument/2006/relationships/image" Target="/ppt/media/image4.png" Id="Rc86c9245cf344590" /><Relationship Type="http://schemas.openxmlformats.org/officeDocument/2006/relationships/image" Target="/ppt/media/image5.png" Id="R633e1a9f1ba04b67" /><Relationship Type="http://schemas.openxmlformats.org/officeDocument/2006/relationships/image" Target="/ppt/media/image6.png" Id="R47b58df5a6b84700" /><Relationship Type="http://schemas.openxmlformats.org/officeDocument/2006/relationships/image" Target="/ppt/media/image7.png" Id="Ra730d5cda9d64259" /><Relationship Type="http://schemas.openxmlformats.org/officeDocument/2006/relationships/notesSlide" Target="/ppt/notesSlides/notesSlide3.xml" Id="R8abfae7c9d1647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1860810084839" /><Relationship Type="http://schemas.openxmlformats.org/officeDocument/2006/relationships/notesSlide" Target="/ppt/notesSlides/notesSlide4.xml" Id="R111d81fe96b746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e2d609dc04acc" /><Relationship Type="http://schemas.openxmlformats.org/officeDocument/2006/relationships/image" Target="/ppt/media/image.png" Id="Rc65006411a304475" /><Relationship Type="http://schemas.openxmlformats.org/officeDocument/2006/relationships/notesSlide" Target="/ppt/notesSlides/notesSlide5.xml" Id="R9d1638bce0ad42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aa96a21bd4565" /><Relationship Type="http://schemas.openxmlformats.org/officeDocument/2006/relationships/image" Target="/ppt/media/image8.png" Id="R49f4a6bc4f064206" /><Relationship Type="http://schemas.openxmlformats.org/officeDocument/2006/relationships/notesSlide" Target="/ppt/notesSlides/notesSlide6.xml" Id="Rf42e15a1f49f49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b85a35a5241be" /><Relationship Type="http://schemas.openxmlformats.org/officeDocument/2006/relationships/image" Target="/ppt/media/image9.png" Id="R4eae61e5b7894c2a" /><Relationship Type="http://schemas.openxmlformats.org/officeDocument/2006/relationships/notesSlide" Target="/ppt/notesSlides/notesSlide7.xml" Id="R8ace043ad7b94c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76326093146c1" /><Relationship Type="http://schemas.openxmlformats.org/officeDocument/2006/relationships/image" Target="/ppt/media/image10.png" Id="Re6fd813f4a214fe5" /><Relationship Type="http://schemas.openxmlformats.org/officeDocument/2006/relationships/image" Target="/ppt/media/image11.png" Id="R6ea1b1b3a56c455e" /><Relationship Type="http://schemas.openxmlformats.org/officeDocument/2006/relationships/notesSlide" Target="/ppt/notesSlides/notesSlide8.xml" Id="R762b55d6645249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9a918680849a1" /><Relationship Type="http://schemas.openxmlformats.org/officeDocument/2006/relationships/image" Target="/ppt/media/image12.png" Id="R5fbd1d22cba74a4a" /><Relationship Type="http://schemas.openxmlformats.org/officeDocument/2006/relationships/image" Target="/ppt/media/image13.png" Id="Re7db74eb138446ff" /><Relationship Type="http://schemas.openxmlformats.org/officeDocument/2006/relationships/image" Target="/ppt/media/image6.png" Id="R647f2961306d463b" /><Relationship Type="http://schemas.openxmlformats.org/officeDocument/2006/relationships/image" Target="/ppt/media/image10.png" Id="R84ce7e79362d4f26" /><Relationship Type="http://schemas.openxmlformats.org/officeDocument/2006/relationships/notesSlide" Target="/ppt/notesSlides/notesSlide9.xml" Id="R2f6214f1491448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4de8a65a44440" /><Relationship Type="http://schemas.openxmlformats.org/officeDocument/2006/relationships/notesSlide" Target="/ppt/notesSlides/notesSlide10.xml" Id="R3d2fc8bb56f345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92f1320ed4fbf" /><Relationship Type="http://schemas.openxmlformats.org/officeDocument/2006/relationships/image" Target="/ppt/media/image14.png" Id="R394697d15d8b4bdc" /><Relationship Type="http://schemas.openxmlformats.org/officeDocument/2006/relationships/image" Target="/ppt/media/image15.png" Id="R47a54a8b64d54661" /><Relationship Type="http://schemas.openxmlformats.org/officeDocument/2006/relationships/notesSlide" Target="/ppt/notesSlides/notesSlide11.xml" Id="R6e36403fee9d4e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5a6a806b0403f" /><Relationship Type="http://schemas.openxmlformats.org/officeDocument/2006/relationships/notesSlide" Target="/ppt/notesSlides/notesSlide12.xml" Id="Rce92a7afd3194d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417ad336d4243" /><Relationship Type="http://schemas.openxmlformats.org/officeDocument/2006/relationships/notesSlide" Target="/ppt/notesSlides/notesSlide13.xml" Id="Rd0be6af690614a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48eb0bf7c4b80" /><Relationship Type="http://schemas.openxmlformats.org/officeDocument/2006/relationships/image" Target="/ppt/media/image.png" Id="R66d07c3cf55d4ae9" /><Relationship Type="http://schemas.openxmlformats.org/officeDocument/2006/relationships/image" Target="/ppt/media/image3.gif" Id="Raa5ca5338437401b" /><Relationship Type="http://schemas.openxmlformats.org/officeDocument/2006/relationships/notesSlide" Target="/ppt/notesSlides/notesSlide14.xml" Id="R6e60d5e047af48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8eabcf9e54211" /><Relationship Type="http://schemas.openxmlformats.org/officeDocument/2006/relationships/notesSlide" Target="/ppt/notesSlides/notesSlide15.xml" Id="R3091ff94fb1343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e31c7712147f1" /><Relationship Type="http://schemas.openxmlformats.org/officeDocument/2006/relationships/image" Target="/ppt/media/image.png" Id="Rf1689e5df8bd44eb" /><Relationship Type="http://schemas.openxmlformats.org/officeDocument/2006/relationships/image" Target="/ppt/media/image4.gif" Id="Raa596240a5aa4840" /><Relationship Type="http://schemas.openxmlformats.org/officeDocument/2006/relationships/notesSlide" Target="/ppt/notesSlides/notesSlide16.xml" Id="Rbb4f0de3f7de40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8c3459f424f9c"/>
          <a:srcRect xmlns:a="http://schemas.openxmlformats.org/drawingml/2006/main" l="0" t="10141" r="0" b="10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FFE47EC-577D-43DF-B21C-2B9F521E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CDA77D1-D133-41A9-B985-D12CAE85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8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650E4B-A0BA-410D-B60E-2846948E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GAME DESIGN PORTFOLIO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67E438D-2CAC-4788-8F0E-DFBE36D3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夜神社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カフェ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30D406-69A0-4DD8-9A51-331C0CD7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D9E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D9E3"/>
                </a:solidFill>
                <a:latin typeface="Yu Gothic"/>
                <a:ea typeface="Yu Gothic"/>
                <a:cs typeface="Yu Gothic"/>
              </a:rPr>
              <a:t>2D ACT × 神社カフェ経営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2D5C33-B038-4FED-8B93-D109AF33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企画から改善までを往復し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約100日で遊べる形へ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2999B977-DC38-481A-9221-CA6DE744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14825"/>
            <a:ext cx="2895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F3C57698-740A-4DEF-B0EA-620EDDD2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48150"/>
            <a:ext cx="2895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6008D322-C4AE-4CA0-9F0E-6646947A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38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51BC85-EE24-4FA7-8C41-115EDB73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481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6C0FBF7-3439-4603-9A64-9108482A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PRESS START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0A847D7-4265-491D-BF75-F88F00C8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86300"/>
            <a:ext cx="198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制作実績を見る</a:t>
            </a:r>
          </a:p>
        </p:txBody>
      </p:sp>
      <p:pic>
        <p:nvPicPr>
          <p:cNvPr id="34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d140ff407480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3488" y="3838575"/>
            <a:ext cx="2442237" cy="3143250"/>
          </a:xfrm>
          <a:prstGeom xmlns:a="http://schemas.openxmlformats.org/drawingml/2006/main" prst="rect">
            <a:avLst/>
          </a:prstGeom>
        </p:spPr>
      </p:pic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C6CF0774-57C2-4787-B1F5-16B13084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19150"/>
            <a:ext cx="3143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1C5A9D3-F585-4BF1-AA5B-DAE78B48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4775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企画判断から制作実績まで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狐神が案内します。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5BF498B-1CA7-44D0-8654-E023E98F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16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ED8E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CED8E6"/>
                </a:solidFill>
                <a:latin typeface="Yu Gothic"/>
                <a:ea typeface="Yu Gothic"/>
                <a:cs typeface="Yu Gothic"/>
              </a:rPr>
              <a:t>個人制作 / Unity 2D / Vertical Slice</a:t>
            </a:r>
          </a:p>
        </p:txBody>
      </p:sp>
      <p:pic>
        <p:nvPicPr>
          <p:cNvPr id="38" name="Shrine Path 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5be0c83cf4d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39550" y="6324600"/>
            <a:ext cx="406400" cy="406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85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2D2B77C-8D3F-4587-91D2-7D7AD373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318B641-34E1-4409-9EAE-D529FB7F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1746816-C792-4624-8F99-9B9ECCFB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POSITION FIT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5D8DFD1-FB06-43FF-8BB8-6DB5B7B5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400AEC9-E872-42CE-9469-099C89B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応募職種との接続：ゲーム企画 / ディレクション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383D59-2762-4CE6-89DA-994980B5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3C22764-E5E2-47BF-8896-326906FE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CC2556-5794-4B1A-BA22-2187339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EE38B1C-10D5-4681-B33E-F514D584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AB1BD0F-11B3-4F66-979B-7C5368E2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8577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E22D3AB-CF85-4C21-B685-A972B0A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48577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C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4B83430-05F8-4166-ACE3-7F157079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470535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D806CC1-A3F5-4F03-8747-6687F4D8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経験・本人担当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6BB199A-1CC2-4BB3-A1DC-5F169E83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ゲーム企画・運営実務：約2年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 / 仕様 / Unity実装 / 数値調整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進行管理 / 日中英の情報整理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363C5CF-62F0-45F8-8BD4-E7D0829A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66875"/>
            <a:ext cx="57912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635EE79-461C-4C0B-BC7D-B7DE6B99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7912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225D18-097F-44C4-81E8-658140DB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76400"/>
            <a:ext cx="56388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DFF4C1-9B5A-4FD3-BDE2-9A5999CC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開発チームで生かせる力</a:t>
            </a:r>
          </a:p>
        </p:txBody>
      </p:sp>
      <p:sp>
        <p:nvSpPr>
          <p:cNvPr id="20" name="椭圆 19">
            <a:extLst xmlns:a="http://schemas.openxmlformats.org/drawingml/2006/main">
              <a:ext uri="{FF2B5EF4-FFF2-40B4-BE49-F238E27FC236}">
                <a16:creationId xmlns:a16="http://schemas.microsoft.com/office/drawing/2014/main" id="{8D95E99E-38BF-4F68-AD4A-6BAF3B75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C33CCA2-154E-4A9D-8A2B-0F6CA261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336ADEC-BB04-4B31-BD35-FA683C3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384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企画する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0DFE288-9489-4510-9B89-DA83A4A0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384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体験から仕様を組み立てる</a:t>
            </a:r>
          </a:p>
        </p:txBody>
      </p:sp>
      <p:sp>
        <p:nvSpPr>
          <p:cNvPr id="24" name="椭圆 23">
            <a:extLst xmlns:a="http://schemas.openxmlformats.org/drawingml/2006/main">
              <a:ext uri="{FF2B5EF4-FFF2-40B4-BE49-F238E27FC236}">
                <a16:creationId xmlns:a16="http://schemas.microsoft.com/office/drawing/2014/main" id="{20795F4B-827D-4664-8C3E-1F03E9BB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E26E553-BB4D-441B-9900-6C19A908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813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7A284F9-D22A-4E80-8C72-A2429EFF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908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作る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017D950-1B6B-4B24-9E81-26BAD3E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Unityで試せる形へ</a:t>
            </a:r>
          </a:p>
        </p:txBody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4A3F5787-D62F-48CB-B11F-FAB741FB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07A55F9-E1EF-4A76-AB44-DC0457B1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337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81EF86E-1569-4D01-AD94-B71450B6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検証する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5C660D6-2FD9-4EC0-B147-641E5809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動作と遊び心地を分ける</a:t>
            </a: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EC26661B-27DF-48AD-B21C-8F26CEFB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489F321-FC11-4728-A501-B3D63FEA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6BBAC28-E19B-452E-8C2E-06E3C3C1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直す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0F91D60-C95F-44E2-9900-5039FC31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問題を仕様へ戻す</a:t>
            </a: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25EE955A-CEDC-4C82-9D1D-423A382D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0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86C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6957CB-73FD-4D81-B5F8-51BDAF4B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386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3ED673C-2BBA-44C7-A94A-E3BBC12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完遂する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D7CF4C2-CAAE-4439-A055-3209E893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Vertical Sliceへ収束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360376F-074F-4FF0-9F47-418A77E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企画判断・仕様決定・Unity実装確認・最終採用判断は本人が担当。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補助ツールは素材案・文章整理・検証補助として使用。</a:t>
            </a:r>
          </a:p>
        </p:txBody>
      </p:sp>
      <p:pic>
        <p:nvPicPr>
          <p:cNvPr id="82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1870a034147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35275" y="1438275"/>
            <a:ext cx="2225450" cy="25004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14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A0489A9-6E8C-4C5B-9ED7-712E8208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4E9392-0989-4490-AB6F-CA142A78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4341DCA-B452-4E92-B6CE-9A5D5A15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PLAYABLE PROOF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1707805-2E1E-4ABD-84E9-3A85062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F3C3B9F-E73C-41FC-A947-A39D0F07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実機ループ：5つの操作で一日が循環する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C189063-4D8C-4094-8B90-236DCE2E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B62F979-61B4-4BC9-B8B4-BB158C81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50E0D8E-73EC-406C-BE90-6FF70A7C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F7292E4-B4F0-434A-AD09-F45ED42B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EF9D6D3-6D21-4C82-A405-0001D611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307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C30A09B-1BD6-4450-AC15-B63938D5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1DB2574-A931-4AA9-BB03-C905274D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78" name="图片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43cdad688418e"/>
          <a:srcRect xmlns:a="http://schemas.openxmlformats.org/drawingml/2006/main" l="17850" t="0" r="178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7165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4DE716A1-59CD-4502-A474-1922059F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E7CB8C6-DE89-43B7-AAAB-C92B1BCA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F323756-E794-4361-BBB4-928F8CE5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願いを聞く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09B555A-E55B-4BEC-B760-822F6756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客の注文・悩み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CD4AF91-FEFD-411F-8449-BDE620E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4D2A790-B0C6-4F30-A91B-C4F8E077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0502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B65BE03-7041-40AD-B482-E622F988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3835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13329FB-7BAC-459B-B69A-FBBF162F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87" name="图片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c9245cf344590"/>
          <a:srcRect xmlns:a="http://schemas.openxmlformats.org/drawingml/2006/main" l="13205" t="0" r="132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213360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B1259BE9-2A4A-4AB0-92C7-80091C4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48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8C0F34-9BD3-43AF-A89D-B1BABF07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7E595E2-9D8A-41D8-A020-623E35BD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1480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夜に備える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FD35539-CFE6-4D1B-B0DB-340D7E7F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料理と夜の準備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474296D-E300-486F-AF6A-5B942D39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3CB8F99-E39E-404F-9520-7AAC2B2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4307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547CAD3-5220-4805-888E-F1F1DE68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7640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583B314-65F5-475A-8CA7-7E15BF0D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96" name="图片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e1a9f1ba04b67"/>
          <a:srcRect xmlns:a="http://schemas.openxmlformats.org/drawingml/2006/main" l="18623" t="0" r="186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177165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8CA32BDC-DAB7-4229-9DBB-06C125B2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483A9F1-8D2B-45D2-95AB-A09EF50F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147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480216C-3FB6-4C3C-8BBA-B4C2BD4A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528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夜へ出る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101CB76-6D1E-448E-8F1E-5633B25F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910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小さな京都夜道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3ACD3EB2-B395-4C1F-95CA-504F5124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DFF184D-9AC8-49C8-ABB0-1C263800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0502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5F2946D-8F3D-4209-A3F5-7DE6C22D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EFC08ABD-C50D-491D-8715-DDB47F16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1455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105" name="图片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58df5a6b84700"/>
          <a:srcRect xmlns:a="http://schemas.openxmlformats.org/drawingml/2006/main" l="16722" t="0" r="167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0450" y="213360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2BC8C915-94DD-4F33-AC8F-88043D09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48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BDBDCAF-68B4-425D-8095-ECDB4EC9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766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084A5B2-FDCA-43B5-A26A-27992E09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1480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Bossを攻略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34474C3-AD56-4ADD-BA35-A4DE5952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攻撃を読み切る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7957AD40-8AFB-42F2-99BF-E8C1DB0A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E849E7C1-03FD-4442-BC52-09F7B7B2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74307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9A52A16-B0DA-451B-82C4-618E6619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7640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B0CBD45-971F-4E42-B544-26055EA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114" name="图片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0d5cda9d64259"/>
          <a:srcRect xmlns:a="http://schemas.openxmlformats.org/drawingml/2006/main" l="1720" t="0" r="1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6450" y="177165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50" name="椭圆 49">
            <a:extLst xmlns:a="http://schemas.openxmlformats.org/drawingml/2006/main">
              <a:ext uri="{FF2B5EF4-FFF2-40B4-BE49-F238E27FC236}">
                <a16:creationId xmlns:a16="http://schemas.microsoft.com/office/drawing/2014/main" id="{C4E53F79-B021-4234-9F53-A1A8C6EC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86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FA6973AB-B84C-4668-93D7-B3A5369C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147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3BC50FCE-10EC-434F-A554-8C3AD371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528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昼の変化へ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EC1DECBA-5E20-4665-9221-D42B5204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910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成果を次の昼へ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BDD9BFB7-7C30-4CEC-A21D-80F9F94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34025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64A961EF-0DEC-4B43-8BC5-87D0C77A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D1E0DB56-D597-4F0C-8B6A-18F14BE3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57" name="矩形: 圆角 56">
            <a:extLst xmlns:a="http://schemas.openxmlformats.org/drawingml/2006/main">
              <a:ext uri="{FF2B5EF4-FFF2-40B4-BE49-F238E27FC236}">
                <a16:creationId xmlns:a16="http://schemas.microsoft.com/office/drawing/2014/main" id="{1F51EAB6-EA62-4837-9CD7-97B33F8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761608D-A517-4393-B4F4-0910D737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149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制作実績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7827BBE-A90D-48C2-BBAF-12FBEE31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カフェ、夜ルート、Bossを実装。昼夜の循環と各工程の役割を実機画面で示します。</a:t>
            </a:r>
          </a:p>
        </p:txBody>
      </p:sp>
    </p:spTree>
    <p:extLst>
      <p:ext uri="{BB962C8B-B14F-4D97-AF65-F5344CB8AC3E}">
        <p14:creationId xmlns:p14="http://schemas.microsoft.com/office/powerpoint/2010/main" val="829839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553D14-C39A-4C10-AF9F-DA4266BF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9803314-C2D4-4E2C-ABF7-1FF25F01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B0D558C-0F00-4AF9-A404-E56D658D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GAME CONCEPT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776E995-CF93-4D32-98B3-53A60A9D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C7BEE09-6468-4FC0-9362-55B4E2B4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企画概要：作品と想定顧客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D985906-2BB0-415E-8A90-F73EF61E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ED654B9-7B96-4B9C-B869-DBBD0819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9456BEE-493A-4240-9A48-7D8BA7F1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C7758F1-0075-4DF4-A39B-26344D3E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C3539F-4B3A-4A68-B278-B6251B16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28775"/>
            <a:ext cx="72390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9B268F-FA42-485B-8585-8CC4D011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72390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6B781D8-743B-454C-A46A-2F85B1F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0866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F116767-A2FA-4FF4-9163-D047D577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ジャンル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1262B29A-8AE1-4376-8A22-2D49A575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4FA3F646-4D1D-4757-9B62-D16BBB48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FBEDEA6A-32C3-4A04-ADE4-CA31A385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FF0EBB8-20FF-4A2D-AD52-9A43CE6F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56D1472-32C9-4431-9143-C03F3695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神社カフェ経営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3EF44F9-CC2B-4C0B-9FCA-86938FD9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28900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育成・接客・料理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1B58D81-296A-4C6F-909E-0D3A995D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3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3772482D-83E5-454B-A425-D6501E87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87BB53D4-AB9F-4962-B2C4-1D77292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E3136E33-1725-4692-9A2F-F822817D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1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601EE68-729F-46F1-AC6B-D7682E8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907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B330BB6-EAF3-4532-B589-EBF11C85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ライトACT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A1D1F63-E7D1-483E-ADD0-B73389D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探索・浄化・Boss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4C81F33-B8D9-4F8A-92F7-A58FE2F1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題材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47F71646-2F3B-4F5A-A791-71979AC5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1DA08CEF-7E75-439A-BC8D-FFB077E1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07075BB9-8F37-4370-9495-0145E5E5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734CAD-D905-4DDB-A1AB-590052B8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A9BEB52-20F8-49F1-9D96-BAC502A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719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現代の京都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822F5BCE-7BE8-452B-88C7-DE1D8A6B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76700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夜道・自販機・生活感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A68C816-0C4E-4999-9410-1D8077E4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3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35" name="矩形: 圆角 34">
            <a:extLst xmlns:a="http://schemas.openxmlformats.org/drawingml/2006/main">
              <a:ext uri="{FF2B5EF4-FFF2-40B4-BE49-F238E27FC236}">
                <a16:creationId xmlns:a16="http://schemas.microsoft.com/office/drawing/2014/main" id="{529A076A-42D7-4B92-ACB0-FC733BB5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05225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51389475-5337-4FC6-9EAC-900E6874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D8C4DB20-ED03-4E1F-9431-898C7755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29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59D02F69-9B55-4272-A95A-85F75B48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38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D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3137494-274D-46CC-91BC-C84A7F2F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71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日本妖怪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0B30B462-7DB7-48A4-8DA8-AAFB889C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767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願い・関係・伝承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E9D0E74-101B-40B8-8967-C342AAA7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28775"/>
            <a:ext cx="35623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2131A2AD-A57A-4FC3-A0F5-F511FC1B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5623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53AA7B84-8342-4487-A3EC-D381D47E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38300"/>
            <a:ext cx="34099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F78393F-419F-42EA-9F8E-BABFF0F6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28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想定顧客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92178F5-FBEB-4432-B1F8-6DC5EB78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PRIMARY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経営・育成ゲーム層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334AD49B-DB63-4393-8815-97E5E20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A041C6F-B956-4355-A00C-7A8A843C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2609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42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SECONDARY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かわいいキャラ・和風世界観層</a:t>
            </a:r>
          </a:p>
        </p:txBody>
      </p:sp>
      <p:sp>
        <p:nvSpPr>
          <p:cNvPr id="48" name="矩形: 圆角 47">
            <a:extLst xmlns:a="http://schemas.openxmlformats.org/drawingml/2006/main">
              <a:ext uri="{FF2B5EF4-FFF2-40B4-BE49-F238E27FC236}">
                <a16:creationId xmlns:a16="http://schemas.microsoft.com/office/drawing/2014/main" id="{72C76EDC-07CA-4A68-9379-2E1D2735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767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矩形: 圆角 48">
            <a:extLst xmlns:a="http://schemas.openxmlformats.org/drawingml/2006/main">
              <a:ext uri="{FF2B5EF4-FFF2-40B4-BE49-F238E27FC236}">
                <a16:creationId xmlns:a16="http://schemas.microsoft.com/office/drawing/2014/main" id="{42C3037A-572F-457E-8212-8EBDC92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6AEA5D6-30A4-44D1-B417-AE0D544F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67225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購入理由：経営×ACTの往復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6A9CFFB3-2461-4BCA-986C-6C791931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43525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AA43B06A-C798-47B3-A592-4219777E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7A0EF14-B10F-4ACA-BA61-282199F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54" name="矩形: 圆角 53">
            <a:extLst xmlns:a="http://schemas.openxmlformats.org/drawingml/2006/main">
              <a:ext uri="{FF2B5EF4-FFF2-40B4-BE49-F238E27FC236}">
                <a16:creationId xmlns:a16="http://schemas.microsoft.com/office/drawing/2014/main" id="{C53A0F0B-F88C-42C0-85B4-39D8B226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D736DC05-B882-4122-933A-630FB47B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244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設計意図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C522B59-1BEE-417C-BF41-09952239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経営で整え、夜のACTで成果を持ち帰る。短時間で区切れ、積み重ねが見える体験を狙います。</a:t>
            </a:r>
          </a:p>
        </p:txBody>
      </p:sp>
    </p:spTree>
    <p:extLst>
      <p:ext uri="{BB962C8B-B14F-4D97-AF65-F5344CB8AC3E}">
        <p14:creationId xmlns:p14="http://schemas.microsoft.com/office/powerpoint/2010/main" val="2140542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4371015-755F-45A0-9A0B-1FB9CDAB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3F72657-5390-46BE-B2A4-53ADBFD1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5136CE0-6C9C-4F10-AF73-50D3E0CA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CORE LOOP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0C6F7EB-B3F6-4B15-8665-0415827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862B74-3936-438D-AC9E-328017A7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コアループ：昼に整え、夜に浄め、次の昼を変える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87D84D5-A752-44CB-A329-D05479EE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F79CE24-26CA-448C-AABC-6CA9901C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5A78CE-9E34-441E-BE86-768A820D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ACE0AAF-1DA4-4E75-BFA8-D3A16B20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pic>
        <p:nvPicPr>
          <p:cNvPr id="55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006411a304475"/>
          <a:srcRect xmlns:a="http://schemas.openxmlformats.org/drawingml/2006/main" l="0" t="6924" r="0" b="6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7239000" cy="4400550"/>
          </a:xfrm>
          <a:prstGeom xmlns:a="http://schemas.openxmlformats.org/drawingml/2006/main" prst="rect">
            <a:avLst/>
          </a:prstGeom>
        </p:spPr>
      </p:pic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B240A6EC-8A28-411D-84B0-8C693C8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402DA7C-3976-42FF-BDE1-E167B06F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AM 08:30　昼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BFE9F31-3D51-4818-BE67-E9DE6602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09725"/>
            <a:ext cx="3581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EFAFB13-6347-43D1-98A5-1DA066B7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43050"/>
            <a:ext cx="3581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9AA3FA2-D7AE-4105-88A8-DC584EC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4290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00E659DE-501B-42F9-B531-9D486B2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6B2B84B-81D6-47E1-9969-873AB3D9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3415BAE-A0ED-4496-B371-9DDAAA76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716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C6DB44C-04A7-47DA-AD32-E8B1493F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716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仕入れ・栽培・接客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C4A097C-272C-4C34-8964-DF9B160B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87F4056E-2BFB-4ECB-AB04-FE6FC8C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4478B52-964E-4082-88F9-5D4EB0A3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8602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5ECEB6F-C9FC-446F-B078-A9A144E4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669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準備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8A08CC5-7484-4532-A611-7CCDC5CF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6697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8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料理・装備・願いを選ぶ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BD1F09B-AE08-4690-B536-8940007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62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26" name="椭圆 25">
            <a:extLst xmlns:a="http://schemas.openxmlformats.org/drawingml/2006/main">
              <a:ext uri="{FF2B5EF4-FFF2-40B4-BE49-F238E27FC236}">
                <a16:creationId xmlns:a16="http://schemas.microsoft.com/office/drawing/2014/main" id="{CD17201E-1A16-436F-9063-3513566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527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4391782-0BDE-4024-B169-C96A1CBC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4146042-1535-42BA-9DD9-FD77E422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623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C787CEF-2D57-43C1-803C-BF5CE0D5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623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探索・戦闘・浄化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ED78640-BAB5-4CA3-872D-E9E20F6D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576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844CC0BF-CF81-4BD1-AB64-78B96119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3C37FB3-A4FE-41AD-976F-9C64EB1F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766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FF8539E-08E2-45C7-803A-FAF3AED0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報酬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5723C4A-C1B4-41E4-A018-581FE625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5762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素材・信仰・関係変化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B4B7EE2-B897-41B8-AF9A-8DC7C3B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529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8CFA8C8B-6825-45E5-9C32-61E228B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434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F9873F0-FA22-4E53-8A8B-3DEC6E0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5DB482F-D157-4DDD-B069-B38874A1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529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成長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C084087-C822-4B0B-A5BC-8582DA5F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529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8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料理・家具・会話・解放</a:t>
            </a:r>
          </a:p>
        </p:txBody>
      </p:sp>
      <p:sp>
        <p:nvSpPr>
          <p:cNvPr id="40" name="矩形: 圆角 39">
            <a:extLst xmlns:a="http://schemas.openxmlformats.org/drawingml/2006/main">
              <a:ext uri="{FF2B5EF4-FFF2-40B4-BE49-F238E27FC236}">
                <a16:creationId xmlns:a16="http://schemas.microsoft.com/office/drawing/2014/main" id="{710A32E0-8695-4083-BB2A-3ADCCCFC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72100"/>
            <a:ext cx="2171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: 圆角 40">
            <a:extLst xmlns:a="http://schemas.openxmlformats.org/drawingml/2006/main">
              <a:ext uri="{FF2B5EF4-FFF2-40B4-BE49-F238E27FC236}">
                <a16:creationId xmlns:a16="http://schemas.microsoft.com/office/drawing/2014/main" id="{0D3D9991-CF3F-4D1A-B633-C590F78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34000"/>
            <a:ext cx="2171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C308008D-09B2-4B6C-8917-1BE54867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62575"/>
            <a:ext cx="2019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REPEAT：次の一日へ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20492DC-178C-4FE9-A08A-9798DDDF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02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体験目標：短時間で区切れ、積み重ねが目に見える</a:t>
            </a:r>
          </a:p>
        </p:txBody>
      </p:sp>
    </p:spTree>
    <p:extLst>
      <p:ext uri="{BB962C8B-B14F-4D97-AF65-F5344CB8AC3E}">
        <p14:creationId xmlns:p14="http://schemas.microsoft.com/office/powerpoint/2010/main" val="236085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77CD047-B263-4893-9B13-3278DA37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98FA2A3-4374-4162-9353-2210AB5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EDCB73B-6400-49B8-95A5-FA14FC72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STAGE STORY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5E7BD9E-CF55-4461-88B4-3FC872D1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B35F297-A52F-49AB-9407-05C7775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LEVEL 1/3：迷いの夜と、閉ざされた神社カフェ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E537F05-AF2C-4143-9E6C-CA9B3143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E909191-37B8-419C-8BFD-E491AD94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FEF20FE-62DA-47F7-A2AF-88CECE8A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B9F8FC2-1651-4803-B2A6-DBBD7585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pic>
        <p:nvPicPr>
          <p:cNvPr id="45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4a6bc4f064206"/>
          <a:srcRect xmlns:a="http://schemas.openxmlformats.org/drawingml/2006/main" l="3242" t="0" r="3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7334250" cy="4343400"/>
          </a:xfrm>
          <a:prstGeom xmlns:a="http://schemas.openxmlformats.org/drawingml/2006/main" prst="rect">
            <a:avLst/>
          </a:prstGeom>
        </p:spPr>
      </p:pic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F3F5EC00-1F77-464A-95BC-DA13787B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7145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1149483-E2E6-4CF2-A6B4-44847FF8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LEVEL 01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44767F6-2AE1-4775-AB29-E6184E9F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09725"/>
            <a:ext cx="35052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25EAB3A-63D6-4616-A6BB-73498740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35052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42BCCF1-58CC-4FB9-B570-8F366BC4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35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14302FEC-0E71-48FD-9A7D-786E8885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2743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54697BE7-2659-4745-BF0B-3F18E625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743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6255B22-C2EA-4D71-8775-B531FD89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38325"/>
            <a:ext cx="2590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(・_・;)  #迷子 #操作学習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85E6885-5F97-48C8-9C21-75C2F9E3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発端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A88065C-1397-4023-9B29-207F5332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77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現代から京都の夜へ迷い込む。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85A9EB9-7BBF-48A0-AD3E-F74A8E4E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プレイ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0399F6E-87E9-49CD-BA7E-D340D73B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移動、ジャンプ、通常戦闘を学び、狐神の灯を追う。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54D1D0C-B75F-4E24-BCDE-791DE5B0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結末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122EE24-A417-475C-AB15-2C81BAE1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2076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昼の拠点へ到着。中央の神社カフェは壊れて閉ざされている。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EC438F8E-D8AD-41F9-9B85-EE56E9DA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2247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39B19863-90FA-4D6A-87E7-535CEBFF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95850"/>
            <a:ext cx="2247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9A4FF16-58D0-4D71-A29E-622F7D3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244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Scene：Stage_1_2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CA77E7C-3982-4A3C-B1A2-5EEFF762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38825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436D59A-2DE5-4558-A47C-FAD4F961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81F8DFC-0430-4A9A-9F65-433AC7D3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C7F4423A-416B-4905-BAD8-158877A9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1E38A0-90B8-46D4-9E8B-012B268C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設計意図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256004F-9F45-4452-B966-B1EB10C1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2932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導入部では、操作説明と「帰れる場所を直す」という最初の目的を同時に提示します。</a:t>
            </a:r>
          </a:p>
        </p:txBody>
      </p:sp>
    </p:spTree>
    <p:extLst>
      <p:ext uri="{BB962C8B-B14F-4D97-AF65-F5344CB8AC3E}">
        <p14:creationId xmlns:p14="http://schemas.microsoft.com/office/powerpoint/2010/main" val="1055076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F91BB39-1CF2-43CF-B698-5724360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6BB6A0E-1A3C-480F-B63F-F4CC52B3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71C92A0-3C93-4C6D-B337-81673717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STAGE STORY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697FF48-C9D0-49EC-B674-F4A5C2E9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CE89F0-EBFB-44FB-9B02-E1C58EE1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LEVEL 2/3：願いを追う赤鬼巡回路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25354B8-FBCF-4B3B-9E82-F1DFD6C6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3D1FC2E-4F6E-48B1-821F-EA3BBE72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EDA47BD-CA3D-4DC1-9089-F7EDFC2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86ADECC-A8F1-4BCE-84E5-B73CBD45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pic>
        <p:nvPicPr>
          <p:cNvPr id="46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e61e5b7894c2a"/>
          <a:srcRect xmlns:a="http://schemas.openxmlformats.org/drawingml/2006/main" l="20126" t="0" r="20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7239000" cy="4038600"/>
          </a:xfrm>
          <a:prstGeom xmlns:a="http://schemas.openxmlformats.org/drawingml/2006/main" prst="rect">
            <a:avLst/>
          </a:prstGeom>
        </p:spPr>
      </p:pic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F8DA8C49-3774-4E86-9DB6-1136459F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EA44CF95-0C4D-404C-8893-894A77ED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F8663AE-F3A9-4234-8E23-2842A450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(｀・ω・´)  #探索 #伏線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295BEDBF-9ABC-4402-A377-3A1836A6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72050"/>
            <a:ext cx="2133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AF01725B-9853-4DB1-AD35-0303ED13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33950"/>
            <a:ext cx="2133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71D8CFA-A97C-46D9-A1FA-B7CC9FFD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62525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接続イベント：次工程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3E534A0-D869-41B2-8E13-526CE5AD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09725"/>
            <a:ext cx="35623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C3599F5-9825-474B-A5B5-A4954376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43050"/>
            <a:ext cx="35623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08C72F6-C805-4CFA-AAA4-5DDFA50A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40995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3428C62-8257-4500-8009-381D2D1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発端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E9ECE93-08D1-4D09-8D4B-2476016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9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特別な来訪者が強い料理を求め、赤鬼の立札が見つかる。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AC661C6-59EC-4A09-8E5B-280E04F4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プレイ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80B2DBD-8DEA-4EC4-BC95-6C033DDB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上下二層を往復し、消える雲、落下足場、隠し洞窟などの地形ギミックを読む。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5A5C102-6945-463A-8062-69EA95EB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結末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02F661D-E7AE-4DE2-92B9-5274F786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4330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金色の「！」が現れ、赤鬼へ挑戦するかを選ぶ。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3CEC41D-602F-4B45-8EC6-8EF04A4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67250"/>
            <a:ext cx="2990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6F40BCC2-1BD9-47F2-BA76-DE54764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990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D33F15B-DD42-4CD1-9A02-17F3D86D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57725"/>
            <a:ext cx="2838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Scene：Stage_1_Route_Prototype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6F3C642-0474-49D1-85C3-33D430AB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76925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27ACA3E-E251-46D3-9542-A5CB4BE3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8A48026-63ED-45EB-9BAC-0F30B11B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54CDAE83-3805-4490-8D88-06DDA8F9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47A96E0-9BDD-4C2D-B625-BA5B4D55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判断ポイント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A955E9B-CE73-47BF-8432-A8DFFC20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674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65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昼の依頼を夜の移動目的へ変え、Boss前にプレイヤー自身が挑戦を選ぶ流れです。</a:t>
            </a:r>
          </a:p>
        </p:txBody>
      </p:sp>
    </p:spTree>
    <p:extLst>
      <p:ext uri="{BB962C8B-B14F-4D97-AF65-F5344CB8AC3E}">
        <p14:creationId xmlns:p14="http://schemas.microsoft.com/office/powerpoint/2010/main" val="694530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CC55867-7846-4ED7-997A-EA50892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72A01AB-87D4-4AD4-8F9B-B868A0B5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5158DA-395F-4972-B2C6-1BB5175C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STAGE STORY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AD3AD28-B5C6-429C-A4F9-85DC2E8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A594C6F-F957-4679-AF6B-9E6D1ED9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LEVEL 3/3：赤鬼決戦と、昼への帰還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4208C0-9149-4C9B-B303-D11FA9B4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2A085C0-5894-4AA2-9FBD-6AA59861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9E5633E-D57A-4C8B-906E-2D18571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8287F8F-4B0D-4626-B158-67926A8E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pic>
        <p:nvPicPr>
          <p:cNvPr id="48" name="图片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d813f4a214fe5"/>
          <a:srcRect xmlns:a="http://schemas.openxmlformats.org/drawingml/2006/main" l="6933" t="0" r="69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6191250" cy="4267200"/>
          </a:xfrm>
          <a:prstGeom xmlns:a="http://schemas.openxmlformats.org/drawingml/2006/main" prst="rect">
            <a:avLst/>
          </a:prstGeom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F853BFD-4361-4754-ADCA-7B09CB41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609725"/>
            <a:ext cx="45910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50C4CE-16B5-4C88-8735-1BFE2F34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43050"/>
            <a:ext cx="45910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183AAD-356E-4292-A647-11194DA2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19250"/>
            <a:ext cx="443865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52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1b1b3a56c455e"/>
          <a:stretch xmlns:a="http://schemas.openxmlformats.org/drawingml/2006/main"/>
        </p:blipFill>
        <p:spPr>
          <a:xfrm xmlns:a="http://schemas.openxmlformats.org/drawingml/2006/main">
            <a:off x="7334250" y="175260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DF6B464D-2470-4648-A510-A7A35C20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B9D0C087-E96F-441A-91F5-1950ED95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859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5E74F4A-3FCE-4743-BE02-BDFEC018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14525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(ง •̀_•́)ง  #Boss #FinalRush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A80866-6ED8-4D62-904C-914B9E72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575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発端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8DC84F0-C23A-4C80-981C-071334ED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赤鬼の挑戦を受け、専用Boss空間へ入る。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66B2CE3-F80B-421D-9C06-CD8C8F9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86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プレイ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C03EF4F-2C4A-48A2-B812-1C7941E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4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3フェーズを読み、最後は福豆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（Faith Bean）でFinal Rushを突破する。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6EE681A-15DC-4071-B85E-83A0789A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結末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259EBFC-FBC6-4F5C-ACA4-A9C32355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9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赤鬼がカフェの仲間となり、辛い料理を解放する構想。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6B1D0073-633C-4FC5-991A-FF847738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9BEF2B73-F3E1-4527-9C5F-FCA7FEC8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435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911F67E-6060-4D5B-B715-03320089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7207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Boss実装済み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528B9B09-F61E-4E8C-B47C-6ACB252A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81600"/>
            <a:ext cx="1885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8BAF5D57-A15B-4AAB-930A-8C3F9969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1885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A15D4B6-D40C-4338-9D0D-29A17988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72075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加入後：将来拡張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31A2DE2-1547-43DB-AB5C-3A4163FA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76925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F601782-CEF5-4AE9-86C0-03B5132F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D9246F4-304D-4822-B250-0508E9A8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7CD01869-CE52-4A9D-9A0A-DC9F5E7B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D25790D-9F97-4483-B3A7-FB4859D9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制作意図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0A6347F-48AB-49D5-ACF3-9F2AB8D9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674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65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戦闘の結果を昼のキャラクター関係と新しい料理へ返し、3ステージを一つの循環にします。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13129379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52F80125-AC56-4B4F-84E4-DB91B004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29ABE0-2389-47A5-A163-451B3F42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352F996-B101-4401-8ECB-70527FCE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ITERATION CASE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A329A1-DC4F-43B8-A27C-797DD9C5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E129D2B-5537-45CB-B0BE-F29717AF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赤鬼Boss：攻撃を「難しい」から「読める」へ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1E06FA1-84AA-4515-8E16-F4C4246D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9B93226-E8A8-48A0-8585-103F56B2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5F79339-31FC-4057-A189-AA1F4AB5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9D6C24-2089-4B3C-A1CB-C2FCAEF0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618C844-9533-4ED7-911A-EF03DCEA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97468E6-3F31-4D36-B902-0DB7E360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863BBED-494C-4507-8219-1C0EDC85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65" name="图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d1d22cba74a4a"/>
          <a:srcRect xmlns:a="http://schemas.openxmlformats.org/drawingml/2006/main" l="16515" t="0" r="16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BF9EF0C-6AD6-46C1-AA73-8BD6D9DD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06EFB5B2-F65D-4F13-A8DA-3FC7D7FA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9FB249-9BC5-4618-BEC7-5C956A21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PROBLEM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8E88FAC-7E83-4034-95FA-A8D98793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高・中・低が読みにくい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47D4F34-C724-481B-B41C-4E05CE07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99D0135-99DF-4451-8A04-82B31A05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4F37711-9AEF-478C-9234-6A9A52F5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73" name="图片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b74eb138446ff"/>
          <a:srcRect xmlns:a="http://schemas.openxmlformats.org/drawingml/2006/main" l="15651" t="0" r="156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EFC18225-4FD2-471A-AFDC-1784A843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78D5E75C-65DC-475A-8140-2532CDC4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F0EA32A-91B2-415A-990A-4C9C0A09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DECISION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F81FF2A-FF9A-4A09-8275-8379E527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3レーン＋予兆を統一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1671B5D-E89F-4736-9453-C1636DE5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122331F-D87D-49E4-A873-1B679B6D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BE890DA-E949-43AF-9641-7443BCD2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81" name="图片 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f2961306d463b"/>
          <a:srcRect xmlns:a="http://schemas.openxmlformats.org/drawingml/2006/main" l="16493" t="0" r="164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30" name="矩形: 圆角 29">
            <a:extLst xmlns:a="http://schemas.openxmlformats.org/drawingml/2006/main">
              <a:ext uri="{FF2B5EF4-FFF2-40B4-BE49-F238E27FC236}">
                <a16:creationId xmlns:a16="http://schemas.microsoft.com/office/drawing/2014/main" id="{4FFF22EF-56C4-4B76-8B89-C2E4FA11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A06F4CEC-F49B-47E6-A690-494C0E5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B44CB3B-E70E-4165-88AB-DE9740C0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IMPLEMENT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BA78C87-CF11-4F38-B998-A89E81D7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HPフェーズ別に攻撃変化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0DE1B01A-D2BD-436F-9BF6-92C1C9E5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3DD1A01-2D09-4E2A-9BFE-9EC921D9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F2E04294-FCD8-4CA3-83F5-F0690EB3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89" name="图片 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e7e79362d4f26"/>
          <a:srcRect xmlns:a="http://schemas.openxmlformats.org/drawingml/2006/main" l="16377" t="0" r="163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9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E271E062-ED1F-4479-B073-288B46D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D96C3FE-22D6-4D92-9FD5-120EE8B3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E86C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D1B0D2D-C318-4613-9B85-C96FABB0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TEST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35A0F5C-F139-401C-9699-AD28D786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位置・被弾・遷移を確認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95C2254-34FA-4257-8E42-5053C0D4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76875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A8DFC01-A4D9-420A-8668-21052CE9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3DB7C515-2279-4B0C-9598-E517B1E1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5" name="矩形: 圆角 44">
            <a:extLst xmlns:a="http://schemas.openxmlformats.org/drawingml/2006/main">
              <a:ext uri="{FF2B5EF4-FFF2-40B4-BE49-F238E27FC236}">
                <a16:creationId xmlns:a16="http://schemas.microsoft.com/office/drawing/2014/main" id="{14975290-3EDE-485B-96B5-0B2C3B6E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EE55D6D3-9AC2-4663-B2D4-A2923000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578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改善結果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8806A48-5D14-4761-B200-8E0B2A82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67375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23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自動Play Modeで攻撃位置・被弾・HP遷移を確認。手動操作感は継続調整。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攻撃レーンと予兆を一致させ、失敗理由を視覚的に特定できる状態を目標に再設計。</a:t>
            </a:r>
          </a:p>
        </p:txBody>
      </p:sp>
    </p:spTree>
    <p:extLst>
      <p:ext uri="{BB962C8B-B14F-4D97-AF65-F5344CB8AC3E}">
        <p14:creationId xmlns:p14="http://schemas.microsoft.com/office/powerpoint/2010/main" val="19366795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2485FBE-E1A6-4797-BA07-A010F44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817E351-02ED-4381-8FC0-704EBA0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49ED9D9-D3CF-4705-B062-0291049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DESIGN DECISIONS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404F59-47B3-45E2-8161-F6890D75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9B4A92-33E4-4668-856E-B5C92376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100日間で行った主な企画判断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51D77FF-5275-4B87-9E48-12469A8B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4FE3BDF-D3E5-4314-9EA5-4721F88C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EEA4374-9976-43E6-917E-E6BE0987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0366929-996F-4EC1-B5BB-4AFDFBE3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197BBA81-B6B7-4307-9772-65E588E6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CABD2F10-9F61-4640-98F8-66E999EF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46C5E82-67AA-44CF-BF2C-EC54252B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昼夜連動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24ABBE7-0A09-4681-A52A-5CE5EA4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14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成果を昼夜で相互に戻す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674EDEA-BCEE-4BAD-B157-9993AD64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192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B035E161-9C78-4EC4-BA3D-BC83DDC9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811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2098CCA-E3CF-4DD8-A4B1-9F482394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一つの循環にする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DE4D82E4-0757-4435-9AE8-D508884C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21E9D165-B40B-4B98-B5F6-6D891CA7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9A17AEF-5E27-4A27-ADA1-2DFD76A8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Boss予兆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405567-0DDE-42FA-92C1-4452BCB3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336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3レーン＋予兆へ整理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E58A94E6-1016-4BA0-A8D6-03163948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0EA104A5-8E8D-4846-ABDC-A66C3A0B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003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48FE6AF-4A3D-4CC7-966C-A1F71192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2890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学習できる難しさ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788A8EE0-78C6-4A20-B63B-D272D19D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6D0BF8E9-1B28-4795-948C-015C7D14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C68416A-D99E-4514-BE7F-26681A3D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UI管理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FD44292-0DA9-42BC-BA9C-76522447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操作意味単位でスライス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9E616724-8F92-4801-8F4E-6CA3A257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575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38757A0A-5F80-40C4-A227-9FA2C312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194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1696403-C7E1-4C46-A4D3-2B371CAA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480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変更範囲を限定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2769F042-58F2-48BD-9528-B2B7EB26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5A079B74-1210-427C-A82A-E76A8E28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A69426-6695-4B27-BEEC-30E13F82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素材参照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1D99700-9E5B-4C5D-B0DE-B3BAABF9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71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一括自動化から手動確認中心へ</a:t>
            </a:r>
          </a:p>
        </p:txBody>
      </p:sp>
      <p:sp>
        <p:nvSpPr>
          <p:cNvPr id="35" name="矩形: 圆角 34">
            <a:extLst xmlns:a="http://schemas.openxmlformats.org/drawingml/2006/main">
              <a:ext uri="{FF2B5EF4-FFF2-40B4-BE49-F238E27FC236}">
                <a16:creationId xmlns:a16="http://schemas.microsoft.com/office/drawing/2014/main" id="{EFA218C5-19A0-4CC5-939E-DFE579D4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767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441BCC36-45B1-4C63-8ABA-5DD78489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386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DE5A833-1B7A-476C-9D14-97FE06E6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6720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参照の安全性を優先</a:t>
            </a:r>
          </a:p>
        </p:txBody>
      </p:sp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8FA3F5C0-0BAF-4643-82A6-39AB7B2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305F9CC5-CB17-4C2B-914F-58648317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9E86C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E111C91-D0BD-40B1-8CBE-38FA950C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要素追加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505A806-5419-41EC-B62F-EB6748B2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91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Vertical Sliceへ収束</a:t>
            </a:r>
          </a:p>
        </p:txBody>
      </p:sp>
      <p:sp>
        <p:nvSpPr>
          <p:cNvPr id="42" name="矩形: 圆角 41">
            <a:extLst xmlns:a="http://schemas.openxmlformats.org/drawingml/2006/main">
              <a:ext uri="{FF2B5EF4-FFF2-40B4-BE49-F238E27FC236}">
                <a16:creationId xmlns:a16="http://schemas.microsoft.com/office/drawing/2014/main" id="{D1770EFE-7F9C-478B-899C-68C3E16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958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: 圆角 42">
            <a:extLst xmlns:a="http://schemas.openxmlformats.org/drawingml/2006/main">
              <a:ext uri="{FF2B5EF4-FFF2-40B4-BE49-F238E27FC236}">
                <a16:creationId xmlns:a16="http://schemas.microsoft.com/office/drawing/2014/main" id="{C6A65E6E-FFDC-407F-8C9D-391CEDEF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577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DB8E13B7-7746-4B57-B704-ED1DE24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863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第一章の完成度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89D1B06E-D38A-4F6F-BC94-9DAAD204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43575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A8D5DD60-0FBC-4519-942E-B914CC23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3961B1AB-0C7B-4688-9E57-23AF04A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8" name="矩形: 圆角 47">
            <a:extLst xmlns:a="http://schemas.openxmlformats.org/drawingml/2006/main">
              <a:ext uri="{FF2B5EF4-FFF2-40B4-BE49-F238E27FC236}">
                <a16:creationId xmlns:a16="http://schemas.microsoft.com/office/drawing/2014/main" id="{146BF2A4-0FF3-4BDC-827A-0E5AE6BD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3BA6E66-9125-418A-8D3D-FBF25777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判断ポイント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A79C16D9-7D67-49EC-A0D4-6203F330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3407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機能数ではなく、問題・判断・理由・検証結果を記録し、次の仕様へ戻しました。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3275570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0197DF0-6DDB-45D2-B051-E1B01593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5EEE675-1F9D-4BE4-A20E-3916DBFC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47BCE2A-A981-43C4-B496-68B5986E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UI &amp; ASSET PIPELINE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A39D711-E05F-4ABB-9B70-0406F2FC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F74CF5D-67DC-4682-BF1C-57B345D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UI・スライス設計：操作を迷わせず、変更範囲を限定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1D4AAA5-6A61-41F0-905F-2644FA4C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C718225-64ED-4750-A16D-28108A15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3E2317-EF4D-476A-8F07-BAB7BD7B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791151A-BD1C-4FC6-83FF-B8C9AD07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pic>
        <p:nvPicPr>
          <p:cNvPr id="59" name="图片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697d15d8b4bdc"/>
          <a:stretch xmlns:a="http://schemas.openxmlformats.org/drawingml/2006/main"/>
        </p:blipFill>
        <p:spPr>
          <a:xfrm xmlns:a="http://schemas.openxmlformats.org/drawingml/2006/main">
            <a:off x="777875" y="1581150"/>
            <a:ext cx="4216400" cy="3162300"/>
          </a:xfrm>
          <a:prstGeom xmlns:a="http://schemas.openxmlformats.org/drawingml/2006/main" prst="rect">
            <a:avLst/>
          </a:prstGeom>
        </p:spPr>
      </p:pic>
      <p:pic>
        <p:nvPicPr>
          <p:cNvPr id="60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54a8b64d54661"/>
          <a:stretch xmlns:a="http://schemas.openxmlformats.org/drawingml/2006/main"/>
        </p:blipFill>
        <p:spPr>
          <a:xfrm xmlns:a="http://schemas.openxmlformats.org/drawingml/2006/main">
            <a:off x="5657850" y="2076450"/>
            <a:ext cx="2895600" cy="217170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A34FF30-F765-4F79-AE58-690B760C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47825"/>
            <a:ext cx="2705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B36FB66-9086-4A08-B1A9-BB9B3E4D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705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A808C65-F43F-4AFF-B974-74061523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57350"/>
            <a:ext cx="2552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454FC5C5-43C1-4847-9645-7E945BF2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669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7793DEF-F498-4ED8-9C84-4F95912C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335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Menu Atlas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5C81118-6C2F-4DD5-B46F-B753A8CA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19145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88831F0B-2F69-4A3C-A785-F851E653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849EB1-8229-46FA-91ED-4F8F42D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Cursor States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6968DFC-6DA8-4A77-893F-6FD890B6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26003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87F2A061-9970-4988-A843-54C6A640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6F448A1-22DE-4951-8CFD-71BA31D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051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Source PNG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B8E81F8-74E6-4FF6-8F35-756B65B7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32861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維持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5AF5EE00-3677-43EA-B9E5-3F6ABCF2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243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3E8FA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D7B9CD2-8F31-428F-92D4-4C3E527F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909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Reference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0D3D872-D0ED-44CB-A875-F531F667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39719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維持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C23C147F-418C-4DE5-9851-3D7FAEC4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9868C219-A960-4693-89E6-1189C713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BC9716A-0297-4A81-8699-DB73C40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0DF96CB-EEB1-4007-A6D4-345E6D5D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意味で分ける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CAFEF22-C7C9-4509-A726-C433C0E7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操作単位で分け、仕様変更を局所化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BEC529B0-0B48-4361-A526-E144E221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4EBBB837-3DCE-496B-B711-26E73E23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786763B-D6BA-4F40-9F28-477FDB84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14D33AE-4E15-4D57-96A8-12426082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名前を固定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BC53B1D-8D3A-4D91-A346-20D7D22A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Normal / Selected / Cursor状態</a:t>
            </a:r>
          </a:p>
        </p:txBody>
      </p:sp>
      <p:sp>
        <p:nvSpPr>
          <p:cNvPr id="37" name="矩形: 圆角 36">
            <a:extLst xmlns:a="http://schemas.openxmlformats.org/drawingml/2006/main">
              <a:ext uri="{FF2B5EF4-FFF2-40B4-BE49-F238E27FC236}">
                <a16:creationId xmlns:a16="http://schemas.microsoft.com/office/drawing/2014/main" id="{7B38D78E-6E33-4C47-B25B-091731C7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691BFE01-BAD6-4800-B00F-A9CF39B9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61AC40C-A371-4D67-A943-58EF02F9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2278E15-F606-4E24-9988-7392CBBC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参照を守る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DB71588-9A16-4E45-B130-B0C5813A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GUIDと内部IDを維持</a:t>
            </a:r>
          </a:p>
        </p:txBody>
      </p:sp>
      <p:sp>
        <p:nvSpPr>
          <p:cNvPr id="42" name="矩形: 圆角 41">
            <a:extLst xmlns:a="http://schemas.openxmlformats.org/drawingml/2006/main">
              <a:ext uri="{FF2B5EF4-FFF2-40B4-BE49-F238E27FC236}">
                <a16:creationId xmlns:a16="http://schemas.microsoft.com/office/drawing/2014/main" id="{096703AE-4F4A-4DC4-A187-AF6E5622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: 圆角 42">
            <a:extLst xmlns:a="http://schemas.openxmlformats.org/drawingml/2006/main">
              <a:ext uri="{FF2B5EF4-FFF2-40B4-BE49-F238E27FC236}">
                <a16:creationId xmlns:a16="http://schemas.microsoft.com/office/drawing/2014/main" id="{E9A5A9EC-B3A3-4F25-BEFA-317C5FE2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3E8FA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58B30A46-3041-49EE-BBE1-567BF45C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5FA70C7-1271-48E8-B0E6-87CE1A6D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画面で確認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AD929B9D-296F-4D0F-B5E0-82E1A7B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昼夜画面で視認と操作を確認</a:t>
            </a:r>
          </a:p>
        </p:txBody>
      </p:sp>
    </p:spTree>
    <p:extLst>
      <p:ext uri="{BB962C8B-B14F-4D97-AF65-F5344CB8AC3E}">
        <p14:creationId xmlns:p14="http://schemas.microsoft.com/office/powerpoint/2010/main" val="1782418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A6EAFB8-033F-4D63-80AA-5773C078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80EDAD-AA44-4843-AD24-0E223E08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2A496C5-78BD-49A9-94D3-37A1151A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MUSIC &amp; SOUND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EBA8B7-5B94-4B83-AA53-DBDF4E97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895479-FF48-49A5-A498-1DD1DF00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音楽設計：画面の切替ではなく、感情の位相をつなぐ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BE24EC6-823D-46DF-8450-0274DF55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847D9A1-2848-4399-9FAD-6DD585F1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39AED7-5139-4117-94FC-3C9C571A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D8F7B4B-119F-4CBD-9850-6DC6BCC0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1532592-79D9-4D10-8124-158E03E7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E59242A-1CAD-41EC-8672-B379E9FC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2DCB849-F11C-4998-8DCD-72A38A51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1EF8BA9-95DC-4069-8CFA-BDE075F0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BF80297-A97E-4E62-8A30-3459B30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TITLE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20F4787-D0D1-4223-A0F6-37B8E54B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楽しい / 悲しい / ランダム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DF856C6-7D30-4C56-A5DD-1ED925CC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500A5D1-E0CD-4243-B48D-9BAFB14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CB0289E-DE9C-414E-9894-EA456B62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B706036-DC33-422A-9BC5-ECA7888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4365019-D19A-4FBB-9353-2D3A032D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DAY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0FB6063-D139-40A8-9A57-DF02566F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Hub / Shop / Cafe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792824C-E464-4F37-8134-8AF28A0A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FEABE6D-CB80-401F-8BEA-0906556B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5410F29-9157-4865-B8C6-7C6E7216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78ADB62-F234-44B8-B9D5-41868A94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89E1756-BE96-46A8-A05E-1D722E09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NIGHT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AA07BCE-53B6-4A72-B6B2-79535BAA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巡回ループ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EB05594-609E-4872-8BFA-EB6B6C6A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7CBE7B3-68BE-4C4B-A4D4-480AF4DE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C78C631-F117-4208-99EE-B38BAF3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156263F-128C-476B-8190-9CD5EDEB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EFA9529-8A87-43C6-BA49-92AD1F6A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2D4CE3B-1AF5-432C-B467-1C17796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Cage 1 → 2 → 3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AD8B1CA9-8906-4A9D-9F0E-7FE4BFD6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95675"/>
            <a:ext cx="706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78D5105-EFF8-49CD-8626-271DCC0F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706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FE36040E-0E63-4CC3-BED0-CD8F60AB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69151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EFFFC8D-980C-489A-882A-48ABD8AE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5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SEが入力の成功を返す</a:t>
            </a:r>
          </a:p>
        </p:txBody>
      </p:sp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C1000716-5D11-4387-B700-C20E5E3D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F69466FC-DA44-477A-BFB5-79F745F2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28F40DCA-2049-4E44-BAEC-04A9279B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Hover：風鈴</a:t>
            </a:r>
          </a:p>
        </p:txBody>
      </p:sp>
      <p:sp>
        <p:nvSpPr>
          <p:cNvPr id="41" name="矩形: 圆角 40">
            <a:extLst xmlns:a="http://schemas.openxmlformats.org/drawingml/2006/main">
              <a:ext uri="{FF2B5EF4-FFF2-40B4-BE49-F238E27FC236}">
                <a16:creationId xmlns:a16="http://schemas.microsoft.com/office/drawing/2014/main" id="{A74B61D7-061F-4252-9251-CC7B4A94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291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矩形: 圆角 41">
            <a:extLst xmlns:a="http://schemas.openxmlformats.org/drawingml/2006/main">
              <a:ext uri="{FF2B5EF4-FFF2-40B4-BE49-F238E27FC236}">
                <a16:creationId xmlns:a16="http://schemas.microsoft.com/office/drawing/2014/main" id="{26F6841F-945D-438B-95C3-4BBA157E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910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8FFAE31-EE2C-4489-B3BD-FF125B3F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195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決定：灯籠の着火</a:t>
            </a:r>
          </a:p>
        </p:txBody>
      </p:sp>
      <p:sp>
        <p:nvSpPr>
          <p:cNvPr id="44" name="矩形: 圆角 43">
            <a:extLst xmlns:a="http://schemas.openxmlformats.org/drawingml/2006/main">
              <a:ext uri="{FF2B5EF4-FFF2-40B4-BE49-F238E27FC236}">
                <a16:creationId xmlns:a16="http://schemas.microsoft.com/office/drawing/2014/main" id="{6ED16E6D-EF25-46AC-979E-4CA4E9D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矩形: 圆角 44">
            <a:extLst xmlns:a="http://schemas.openxmlformats.org/drawingml/2006/main">
              <a:ext uri="{FF2B5EF4-FFF2-40B4-BE49-F238E27FC236}">
                <a16:creationId xmlns:a16="http://schemas.microsoft.com/office/drawing/2014/main" id="{8DE2AEF7-C47B-4E29-BC91-DAD52C9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E406FBB-3346-43F1-B618-20E11BE1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822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Jump / Land / Attack</a:t>
            </a:r>
          </a:p>
        </p:txBody>
      </p:sp>
      <p:sp>
        <p:nvSpPr>
          <p:cNvPr id="47" name="矩形: 圆角 46">
            <a:extLst xmlns:a="http://schemas.openxmlformats.org/drawingml/2006/main">
              <a:ext uri="{FF2B5EF4-FFF2-40B4-BE49-F238E27FC236}">
                <a16:creationId xmlns:a16="http://schemas.microsoft.com/office/drawing/2014/main" id="{EAEA804F-3F92-4FFB-81E8-1780A69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577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矩形: 圆角 47">
            <a:extLst xmlns:a="http://schemas.openxmlformats.org/drawingml/2006/main">
              <a:ext uri="{FF2B5EF4-FFF2-40B4-BE49-F238E27FC236}">
                <a16:creationId xmlns:a16="http://schemas.microsoft.com/office/drawing/2014/main" id="{567C2775-506A-475C-A6BD-F62E3757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196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3E8FA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F8336B80-AD23-4C75-BEEC-7F9A940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4822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Hurt / Pickup / Retry / Clear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6FD5176-8C11-475F-89CE-3CA10E2F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95675"/>
            <a:ext cx="3619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BAFC4B5-D506-4A15-8C6A-1E61CAE0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3619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4A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A7E3AB14-6A1B-417D-A8EE-CA6BD570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346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09E6B205-F708-4279-9D07-82D7E1A0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DEATH / RETRY：LOW-PASS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DD7A436B-2A59-425C-94AB-592A3A6D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22 kHz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4EE709A4-91AA-4553-B54E-D49803F6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18AA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18AA7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445541CF-0054-45AD-9184-130AB654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910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400 Hz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CF311C3-B1FD-4F39-8B98-9970EFB3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96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FE7F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E7F2"/>
                </a:solidFill>
                <a:latin typeface="Yu Gothic"/>
                <a:ea typeface="Yu Gothic"/>
                <a:cs typeface="Yu Gothic"/>
              </a:rPr>
              <a:t>音量 40%へ / 復帰時に解除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8B2E4689-A3C1-4C7A-99BC-34E3AFA6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目的：BGMを装飾ではなく、場面・フェーズ理解の情報として仕様化</a:t>
            </a:r>
          </a:p>
        </p:txBody>
      </p:sp>
    </p:spTree>
    <p:extLst>
      <p:ext uri="{BB962C8B-B14F-4D97-AF65-F5344CB8AC3E}">
        <p14:creationId xmlns:p14="http://schemas.microsoft.com/office/powerpoint/2010/main" val="11639341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70FE5C2-331D-4FCA-8BCA-18506912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A55EA73-C932-4214-9B58-603D6F6B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C51C1BE-72DE-47C9-B007-12036F34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QUALITY GATE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6906D86-82BE-4B4F-8D7A-EE19F2B9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3AF8538-37D7-4833-8899-6935669E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テスト結果：何が動き、何をまだ確認するか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575359-96C2-4458-BFFF-3D98E7D9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538A40C-522D-46B5-B3A5-80C279A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E6D358A-002C-4D31-94D8-B0CDB206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B87AA2B-797F-4E0D-8442-9414514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50887AC-885B-4BAA-9742-12176009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4D84E08-59F3-4BFE-B18D-F0F54897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5D4F2AA-E8AF-494C-994B-43D7C27B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2766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99B3B4C-02A7-4EBB-B47E-450FA943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5CC3C5-328B-43A6-8D72-9AAC7CCD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実装済み</a:t>
            </a: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515C1E57-A9B9-4FD4-B201-197DC9D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3974010-FA79-44F3-9FED-8F91C0A5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816113C-C1CC-4C1D-BEA7-B3BB7DA7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昼の拠点とカフェ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7C86C965-8659-4321-A8A7-B4016EF5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EA69B2C-4E99-46C1-998F-272E8046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940E12E-8A14-45E0-A042-B6AE932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夜のACTルート</a:t>
            </a:r>
          </a:p>
        </p:txBody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F4846CD2-D69E-4748-B1B7-008AAEF9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FD0152C-8987-41AE-A038-A9450C6F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4196AAB-3ECC-4232-BBE3-984DDD61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赤鬼3段階＋Final Rush</a:t>
            </a:r>
          </a:p>
        </p:txBody>
      </p:sp>
      <p:sp>
        <p:nvSpPr>
          <p:cNvPr id="24" name="椭圆 23">
            <a:extLst xmlns:a="http://schemas.openxmlformats.org/drawingml/2006/main">
              <a:ext uri="{FF2B5EF4-FFF2-40B4-BE49-F238E27FC236}">
                <a16:creationId xmlns:a16="http://schemas.microsoft.com/office/drawing/2014/main" id="{AB51AD29-CDF9-40FC-A9F1-9424B848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738CACE-2854-48C3-9180-A4E3F3B6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E6C8505-2C75-4339-AFD8-E41B242C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BGM / SE / UI共通機構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BE75A94-827D-47BB-9B6C-C0074FA6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24025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11312FE1-D229-4BB5-A4DA-F3E4B82A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BE2A6E3-7954-4C63-970C-058C9508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2766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EBFD475-1E4D-46D0-986D-6FABFF99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85A4C8D-5F3A-4E09-9D56-5802CA70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自動確認</a:t>
            </a: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EB003009-FEB2-45CF-90CE-745547F6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F219B89-6037-4604-B572-9F93042B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050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655E400-F7CE-406A-BB79-EDF16A90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主要シーン構成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30640D09-90A6-42FD-84C1-D2A4E828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018DA0F-5861-4DEF-A0B7-73A4C0FD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79DC23F-C5E2-47AD-BA52-75570252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Sprite参照・スライス</a:t>
            </a: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46234329-98DB-400F-B400-0DB0746F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71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3A25486-8948-4E86-8594-CF1AE3A3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54D515D-87DA-4A1A-B088-FAC40A7C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95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Boss条件の検証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1A030516-AD81-49D0-8D20-D6349DB3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8CBDA389-930C-4A49-AA8F-750C0036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910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D979550-8799-4346-A056-ABCA2E29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24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ビルド前の静的検査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33BB89-275C-457F-9493-DFC2926F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24025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5509BA2D-05F4-414B-8AA3-FCAE87D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14AE555-84C9-4B5A-862A-847EC4F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2766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D6F7E53-CE03-4F34-A15F-D4B90DE7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1A2D39C3-B245-46FD-B1A0-1A4F64D2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手動確認中</a:t>
            </a:r>
          </a:p>
        </p:txBody>
      </p:sp>
      <p:sp>
        <p:nvSpPr>
          <p:cNvPr id="49" name="椭圆 48">
            <a:extLst xmlns:a="http://schemas.openxmlformats.org/drawingml/2006/main">
              <a:ext uri="{FF2B5EF4-FFF2-40B4-BE49-F238E27FC236}">
                <a16:creationId xmlns:a16="http://schemas.microsoft.com/office/drawing/2014/main" id="{DE6811AB-3517-455F-B72C-74170E05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CA28170E-F90A-4EC7-A6A2-92C3D3C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050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E89BEA6-9B3B-4F7E-9DB2-BBFD0E2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通しプレイの操作感</a:t>
            </a:r>
          </a:p>
        </p:txBody>
      </p:sp>
      <p:sp>
        <p:nvSpPr>
          <p:cNvPr id="52" name="椭圆 51">
            <a:extLst xmlns:a="http://schemas.openxmlformats.org/drawingml/2006/main">
              <a:ext uri="{FF2B5EF4-FFF2-40B4-BE49-F238E27FC236}">
                <a16:creationId xmlns:a16="http://schemas.microsoft.com/office/drawing/2014/main" id="{B1BF113B-3828-43F2-937B-4DF20A49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6DE8E5A4-A50C-4352-B554-70903DB5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337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D37959D8-2CCE-4E87-9A34-75A6BB9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UIの最終視認</a:t>
            </a:r>
          </a:p>
        </p:txBody>
      </p:sp>
      <p:sp>
        <p:nvSpPr>
          <p:cNvPr id="55" name="椭圆 54">
            <a:extLst xmlns:a="http://schemas.openxmlformats.org/drawingml/2006/main">
              <a:ext uri="{FF2B5EF4-FFF2-40B4-BE49-F238E27FC236}">
                <a16:creationId xmlns:a16="http://schemas.microsoft.com/office/drawing/2014/main" id="{2B822C9F-7D22-452A-96C1-8611FB2B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2F74B6B-75AD-44B8-9FB9-D8F0CF5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62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18ED0247-92AF-423D-9B4A-F1794D6F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95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音量バランス</a:t>
            </a:r>
          </a:p>
        </p:txBody>
      </p:sp>
      <p:sp>
        <p:nvSpPr>
          <p:cNvPr id="58" name="椭圆 57">
            <a:extLst xmlns:a="http://schemas.openxmlformats.org/drawingml/2006/main">
              <a:ext uri="{FF2B5EF4-FFF2-40B4-BE49-F238E27FC236}">
                <a16:creationId xmlns:a16="http://schemas.microsoft.com/office/drawing/2014/main" id="{C7018ADD-E88C-49F6-B0FB-BE7DD569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9011B5A-11BD-42ED-AF12-AA0405F2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910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0F0D427-8435-4683-8D30-F14BABDA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昼夜ループの通し確認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BA951CDF-37CC-4ABD-95C4-CB8A356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29275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55B3CFA1-2475-4E52-AE1D-64176CED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9CB4D5A4-826D-4478-8F48-268B4048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64" name="矩形: 圆角 63">
            <a:extLst xmlns:a="http://schemas.openxmlformats.org/drawingml/2006/main">
              <a:ext uri="{FF2B5EF4-FFF2-40B4-BE49-F238E27FC236}">
                <a16:creationId xmlns:a16="http://schemas.microsoft.com/office/drawing/2014/main" id="{F84F750B-6F08-4A91-829D-A53551C4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E2CC17B3-F45A-4A56-BA69-8784ED8B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102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検証方針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4EA6AF1-9FE1-44FF-9DF4-065CF930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実装完了とプレイ品質を分けて評価。提出版では自動確認と手動確認を明示します。</a:t>
            </a:r>
          </a:p>
        </p:txBody>
      </p:sp>
    </p:spTree>
    <p:extLst>
      <p:ext uri="{BB962C8B-B14F-4D97-AF65-F5344CB8AC3E}">
        <p14:creationId xmlns:p14="http://schemas.microsoft.com/office/powerpoint/2010/main" val="17998593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8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07c3cf55d4ae9"/>
          <a:srcRect xmlns:a="http://schemas.openxmlformats.org/drawingml/2006/main" l="0" t="10141" r="0" b="10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F938A75-968B-42DB-9939-820F7C8B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6F88A0C-C053-4B12-B2F9-78983855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WHAT I CAN BRING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9C15E4D-9A70-4DDE-A08B-1F5EBE93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考えたゲームを、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遊べるところまで持っていく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6661B4C9-78F9-4257-9658-CDC6985C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79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A18896C7-0D0D-4CDE-82F1-5C4B87CC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1650884F-FEFC-4EEB-A748-22BFFBFA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9FE4376-8469-49FC-B271-B79E02E0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A64C2D3-BACF-427D-A1A6-8D696550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企画する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E847488-3358-4071-B6A0-AF4BFFF7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体験から仕様を組み立てる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EE8BDF3-181A-4C60-B338-8E62B615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479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598DABE2-D814-4CE7-8ECC-14C733E7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430373DF-9B2A-453B-AFFA-FF13D9B3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6FB0E4-4622-4F28-B41E-0F1ADE08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812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6E94415-5718-4E31-93FD-1CE90185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14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作る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FEBC109-A2FC-41D7-9A86-61C0B184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Unityで試せる形へ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070D7A28-9A13-4B9E-9F17-6179C67B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7D3B4F69-E15F-4B57-9DB2-9F3314E0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45FB733F-2EB3-4E5D-A6F9-C4C5506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CFE161E-2EB7-473D-AAFD-76172047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EB9998F-76B4-4F0E-8DD8-6807347F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検証する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3EF0182-73EC-4BC0-B63D-9CFDBB1F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「動く」と「面白い」を分ける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D736FDBA-1387-498E-9080-57E00965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290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88DCA6ED-4ED0-40BC-8B3A-3ADDA77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5" name="椭圆 24">
            <a:extLst xmlns:a="http://schemas.openxmlformats.org/drawingml/2006/main">
              <a:ext uri="{FF2B5EF4-FFF2-40B4-BE49-F238E27FC236}">
                <a16:creationId xmlns:a16="http://schemas.microsoft.com/office/drawing/2014/main" id="{BB25F7B6-148F-4D5F-AB73-90B5E292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52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8FC24C7-3434-46EB-A4D0-A69B6CF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623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FE2264B-3F36-4CCC-B460-D11879C3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直す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97038E8-0A9D-4C88-B951-33C47B7D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問題を仕様へ戻し、次の改善へ</a:t>
            </a:r>
          </a:p>
        </p:txBody>
      </p:sp>
      <p:pic>
        <p:nvPicPr>
          <p:cNvPr id="64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ca5338437401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390387" y="553106"/>
            <a:ext cx="1306313" cy="1575075"/>
          </a:xfrm>
          <a:prstGeom xmlns:a="http://schemas.openxmlformats.org/drawingml/2006/main" prst="rect">
            <a:avLst/>
          </a:prstGeom>
        </p:spPr>
      </p:pic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FADA9A9C-3AF1-467A-9D1D-A047506A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7905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B2CFC7-8F94-42FF-B0F7-173020D6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748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企画からUnity実装・検証・改善まで、自分で判断して進めた制作実績です。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663F1F5-89E2-4020-AA09-5A777E0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16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E0EC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D8E0EC"/>
                </a:solidFill>
                <a:latin typeface="Yu Gothic"/>
                <a:ea typeface="Yu Gothic"/>
                <a:cs typeface="Yu Gothic"/>
              </a:rPr>
              <a:t>THANK YOU / 夜神社カフェ</a:t>
            </a:r>
          </a:p>
        </p:txBody>
      </p:sp>
    </p:spTree>
    <p:extLst>
      <p:ext uri="{BB962C8B-B14F-4D97-AF65-F5344CB8AC3E}">
        <p14:creationId xmlns:p14="http://schemas.microsoft.com/office/powerpoint/2010/main" val="7702199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13A82E1-05CA-48F2-B0FD-77552810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81D888-B209-450C-8D4C-D25FD871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6F7A88B-56BA-4B56-A27E-3F02FDD0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APPENDIX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261E997-6E3E-4014-9C4E-5D586007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5090CA0-1EA0-4EB9-A3E2-B49821A2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事業仮説：予算条件と販売感度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219823F-C149-4FB3-B60A-DC45D778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DEC8B5-D2F3-45E2-9D1C-782AF8E2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5EB36C3-4EAD-42DC-BE10-6E1AEABB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CF537A-85E2-4363-915C-A348F6F7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C874727-7038-47CF-A83B-7263C6AE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価格仮説 ¥1,800 × 平均実売72% × 控除後70% ＝ 手取り約¥907 / 本</a:t>
            </a:r>
          </a:p>
        </p:txBody>
      </p:sp>
      <p:graphicFrame>
        <p:nvGraphicFramePr>
          <p:cNvPr id="31" name="表格 28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11049000" cy="2590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1714500"/>
                <a:gridCol w="2000250"/>
                <a:gridCol w="2190750"/>
                <a:gridCol w="3524250"/>
              </a:tblGrid>
              <a:tr h="6477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ケース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販売本数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手取り売上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フルコスト差引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次の判断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保守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5,000本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約454万円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▲約596万円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Scope縮小・資金防衛</a:t>
                      </a:r>
                    </a:p>
                  </a:txBody>
                  <a:tcPr marL="66675" marR="66675" marT="104775" marB="104775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基準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15,000本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約1,361万円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+約311万円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更新・次章へ再投資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上振れ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50,000本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約4,536万円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+約3,486万円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多言語・移植を検討</a:t>
                      </a:r>
                    </a:p>
                  </a:txBody>
                  <a:tcPr marL="66675" marR="66675" marT="104775" marB="104775"/>
                </a:tc>
              </a:tr>
            </a:tbl>
          </a:graphicData>
        </a:graphic>
      </p:graphicFrame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DF059B64-3074-43BF-BB9D-FA63FB8D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4381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71FE579-7642-4EC1-9332-B231748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72075"/>
            <a:ext cx="2409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FULL COST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76DDD96-B882-4EB0-8BBC-8EF1752B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205" y="5153025"/>
            <a:ext cx="16649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1,050万円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0EAFD4D1-00C4-4D7F-9DA1-0BEAAD10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05400"/>
            <a:ext cx="4381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406F0DD-CDF7-4998-8913-24616A9C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72075"/>
            <a:ext cx="2409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CASH REQUIREMENT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35B8823-B0B9-45CD-9BFA-53C619E8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205" y="5153025"/>
            <a:ext cx="16649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630万円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F77B453-8043-44DD-9695-9845742A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企画仮説。売上予測ではなく、予算条件に対する販売感度を確認する。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6626273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89e5df8bd44eb"/>
          <a:srcRect xmlns:a="http://schemas.openxmlformats.org/drawingml/2006/main" l="0" t="10141" r="0" b="10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5B3CFCB-4D50-21DD-E02B-D1B5B1CE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96240a5aa484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55587" y="5086338"/>
            <a:ext cx="1393111" cy="1573594"/>
          </a:xfrm>
          <a:prstGeom xmlns:a="http://schemas.openxmlformats.org/drawingml/2006/main" prst="rect">
            <a:avLst/>
          </a:prstGeom>
        </p:spPr>
      </p:pic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CB35E7-0958-DDE9-14EC-3DDA47E0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424" y="6287077"/>
            <a:ext cx="1764668" cy="224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E0EC"/>
                </a:solidFill>
                <a:latin typeface="Yu Gothic"/>
                <a:ea typeface="Yu Gothic"/>
                <a:cs typeface="Yu Gothic"/>
              </a:defRPr>
            </a:pPr>
            <a:r>
              <a:rPr sz="2000" b="1">
                <a:solidFill>
                  <a:srgbClr val="D8E0EC"/>
                </a:solidFill>
                <a:latin typeface="Yu Gothic"/>
                <a:ea typeface="Yu Gothic"/>
                <a:cs typeface="Yu Gothic"/>
              </a:rPr>
              <a:t>夜神社カフェ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E07D4B2-5ED6-4B5F-F15A-C12C5E1B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312" y="1856903"/>
            <a:ext cx="7583375" cy="3144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ご覧いただき、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ありがとうございます。</a:t>
            </a:r>
            <a:endParaRPr sz="4400" b="1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/>
            </a:r>
            <a:endParaRPr sz="4400" b="1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企画と実装を往復し、</a:t>
            </a:r>
            <a:endParaRPr sz="4400" b="1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遊べる形まで収束させます。</a:t>
            </a:r>
            <a:endParaRPr sz="4400" b="1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98680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2026-09-04T17:12:52.5530000Z</dcterms:created>
  <dcterms:modified xsi:type="dcterms:W3CDTF">2026-09-04T17:12:52.5530000Z</dcterms:modified>
</coreProperties>
</file>